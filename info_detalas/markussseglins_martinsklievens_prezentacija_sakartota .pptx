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1" r:id="rId4"/>
    <p:sldId id="258" r:id="rId5"/>
    <p:sldId id="259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lv-L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kuss Seglins" initials="MS" lastIdx="1" clrIdx="0">
    <p:extLst>
      <p:ext uri="{19B8F6BF-5375-455C-9EA6-DF929625EA0E}">
        <p15:presenceInfo xmlns:p15="http://schemas.microsoft.com/office/powerpoint/2012/main" userId="9e8b10e70f414c6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01T14:31:00.753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v-LV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F8054-748D-4620-A374-AD9B296E7744}" type="datetimeFigureOut">
              <a:rPr lang="lv-LV" smtClean="0"/>
              <a:t>01.04.2026</a:t>
            </a:fld>
            <a:endParaRPr lang="lv-LV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v-LV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887435-B39A-4DAC-8726-D6EAAB88F2C0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532254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irsraksta slai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lv-LV"/>
              <a:t>Rediģēt šablona virsraksta stilu</a:t>
            </a:r>
          </a:p>
        </p:txBody>
      </p:sp>
      <p:sp>
        <p:nvSpPr>
          <p:cNvPr id="3" name="Apakšvirsrakst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lv-LV"/>
              <a:t>Noklikšķiniet, lai rediģētu šablona apakšvirsraksta stilu</a:t>
            </a:r>
          </a:p>
        </p:txBody>
      </p:sp>
      <p:sp>
        <p:nvSpPr>
          <p:cNvPr id="4" name="Datuma vietturis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FC86-4504-4571-A405-93BD3772E0A0}" type="datetimeFigureOut">
              <a:rPr lang="lv-LV" smtClean="0"/>
              <a:t>01.04.2026</a:t>
            </a:fld>
            <a:endParaRPr lang="lv-LV"/>
          </a:p>
        </p:txBody>
      </p:sp>
      <p:sp>
        <p:nvSpPr>
          <p:cNvPr id="5" name="Kājenes vietturis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aida numura vietturis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11F0-D595-438F-9009-404C1BE0D718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383557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Virsraksts un satu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Satura vietturis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4" name="Datuma vietturis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FC86-4504-4571-A405-93BD3772E0A0}" type="datetimeFigureOut">
              <a:rPr lang="lv-LV" smtClean="0"/>
              <a:t>01.04.2026</a:t>
            </a:fld>
            <a:endParaRPr lang="lv-LV"/>
          </a:p>
        </p:txBody>
      </p:sp>
      <p:sp>
        <p:nvSpPr>
          <p:cNvPr id="5" name="Kājenes vietturis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aida numura vietturis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11F0-D595-438F-9009-404C1BE0D718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892071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adaļas galve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lv-LV"/>
              <a:t>Rediģēt šablona virsraksta stilu</a:t>
            </a:r>
          </a:p>
        </p:txBody>
      </p:sp>
      <p:sp>
        <p:nvSpPr>
          <p:cNvPr id="3" name="Teksta vietturis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lv-LV"/>
              <a:t>Rediģēt šablona teksta stilus</a:t>
            </a:r>
          </a:p>
        </p:txBody>
      </p:sp>
      <p:sp>
        <p:nvSpPr>
          <p:cNvPr id="4" name="Datuma vietturis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FC86-4504-4571-A405-93BD3772E0A0}" type="datetimeFigureOut">
              <a:rPr lang="lv-LV" smtClean="0"/>
              <a:t>01.04.2026</a:t>
            </a:fld>
            <a:endParaRPr lang="lv-LV"/>
          </a:p>
        </p:txBody>
      </p:sp>
      <p:sp>
        <p:nvSpPr>
          <p:cNvPr id="5" name="Kājenes vietturis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aida numura vietturis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11F0-D595-438F-9009-404C1BE0D718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542816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vi satura blo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Satura vietturis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4" name="Satura vietturis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5" name="Datuma vietturis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FC86-4504-4571-A405-93BD3772E0A0}" type="datetimeFigureOut">
              <a:rPr lang="lv-LV" smtClean="0"/>
              <a:t>01.04.2026</a:t>
            </a:fld>
            <a:endParaRPr lang="lv-LV"/>
          </a:p>
        </p:txBody>
      </p:sp>
      <p:sp>
        <p:nvSpPr>
          <p:cNvPr id="6" name="Kājenes vietturis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aida numura vietturis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11F0-D595-438F-9009-404C1BE0D718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4201292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līdzināju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Teksta vietturis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v-LV"/>
              <a:t>Rediģēt šablona teksta stilus</a:t>
            </a:r>
          </a:p>
        </p:txBody>
      </p:sp>
      <p:sp>
        <p:nvSpPr>
          <p:cNvPr id="4" name="Satura vietturis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5" name="Teksta vietturis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v-LV"/>
              <a:t>Rediģēt šablona teksta stilus</a:t>
            </a:r>
          </a:p>
        </p:txBody>
      </p:sp>
      <p:sp>
        <p:nvSpPr>
          <p:cNvPr id="6" name="Satura vietturis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7" name="Datuma vietturis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FC86-4504-4571-A405-93BD3772E0A0}" type="datetimeFigureOut">
              <a:rPr lang="lv-LV" smtClean="0"/>
              <a:t>01.04.2026</a:t>
            </a:fld>
            <a:endParaRPr lang="lv-LV"/>
          </a:p>
        </p:txBody>
      </p:sp>
      <p:sp>
        <p:nvSpPr>
          <p:cNvPr id="8" name="Kājenes vietturis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9" name="Slaida numura vietturis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11F0-D595-438F-9009-404C1BE0D718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04422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kai virsrak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Datuma vietturis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FC86-4504-4571-A405-93BD3772E0A0}" type="datetimeFigureOut">
              <a:rPr lang="lv-LV" smtClean="0"/>
              <a:t>01.04.2026</a:t>
            </a:fld>
            <a:endParaRPr lang="lv-LV"/>
          </a:p>
        </p:txBody>
      </p:sp>
      <p:sp>
        <p:nvSpPr>
          <p:cNvPr id="4" name="Kājenes vietturis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5" name="Slaida numura vietturis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11F0-D595-438F-9009-404C1BE0D718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472251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uk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a vietturis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FC86-4504-4571-A405-93BD3772E0A0}" type="datetimeFigureOut">
              <a:rPr lang="lv-LV" smtClean="0"/>
              <a:t>01.04.2026</a:t>
            </a:fld>
            <a:endParaRPr lang="lv-LV"/>
          </a:p>
        </p:txBody>
      </p:sp>
      <p:sp>
        <p:nvSpPr>
          <p:cNvPr id="3" name="Kājenes vietturis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4" name="Slaida numura vietturis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11F0-D595-438F-9009-404C1BE0D718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032884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turs ar paraks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v-LV"/>
              <a:t>Rediģēt šablona virsraksta stilu</a:t>
            </a:r>
          </a:p>
        </p:txBody>
      </p:sp>
      <p:sp>
        <p:nvSpPr>
          <p:cNvPr id="3" name="Satura vietturis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4" name="Teksta vietturis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v-LV"/>
              <a:t>Rediģēt šablona teksta stilus</a:t>
            </a:r>
          </a:p>
        </p:txBody>
      </p:sp>
      <p:sp>
        <p:nvSpPr>
          <p:cNvPr id="5" name="Datuma vietturis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FC86-4504-4571-A405-93BD3772E0A0}" type="datetimeFigureOut">
              <a:rPr lang="lv-LV" smtClean="0"/>
              <a:t>01.04.2026</a:t>
            </a:fld>
            <a:endParaRPr lang="lv-LV"/>
          </a:p>
        </p:txBody>
      </p:sp>
      <p:sp>
        <p:nvSpPr>
          <p:cNvPr id="6" name="Kājenes vietturis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aida numura vietturis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11F0-D595-438F-9009-404C1BE0D718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525129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ttēls ar paraks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v-LV"/>
              <a:t>Rediģēt šablona virsraksta stilu</a:t>
            </a:r>
          </a:p>
        </p:txBody>
      </p:sp>
      <p:sp>
        <p:nvSpPr>
          <p:cNvPr id="3" name="Attēla vietturis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v-LV"/>
          </a:p>
        </p:txBody>
      </p:sp>
      <p:sp>
        <p:nvSpPr>
          <p:cNvPr id="4" name="Teksta vietturis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v-LV"/>
              <a:t>Rediģēt šablona teksta stilus</a:t>
            </a:r>
          </a:p>
        </p:txBody>
      </p:sp>
      <p:sp>
        <p:nvSpPr>
          <p:cNvPr id="5" name="Datuma vietturis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FC86-4504-4571-A405-93BD3772E0A0}" type="datetimeFigureOut">
              <a:rPr lang="lv-LV" smtClean="0"/>
              <a:t>01.04.2026</a:t>
            </a:fld>
            <a:endParaRPr lang="lv-LV"/>
          </a:p>
        </p:txBody>
      </p:sp>
      <p:sp>
        <p:nvSpPr>
          <p:cNvPr id="6" name="Kājenes vietturis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aida numura vietturis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11F0-D595-438F-9009-404C1BE0D718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855108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irsraksts un vertikāls tek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Vertikāls teksta vietturis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4" name="Datuma vietturis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FC86-4504-4571-A405-93BD3772E0A0}" type="datetimeFigureOut">
              <a:rPr lang="lv-LV" smtClean="0"/>
              <a:t>01.04.2026</a:t>
            </a:fld>
            <a:endParaRPr lang="lv-LV"/>
          </a:p>
        </p:txBody>
      </p:sp>
      <p:sp>
        <p:nvSpPr>
          <p:cNvPr id="5" name="Kājenes vietturis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aida numura vietturis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11F0-D595-438F-9009-404C1BE0D718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218116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āls virsraksts un tek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āls virsrakst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Vertikāls teksta vietturis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4" name="Datuma vietturis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FC86-4504-4571-A405-93BD3772E0A0}" type="datetimeFigureOut">
              <a:rPr lang="lv-LV" smtClean="0"/>
              <a:t>01.04.2026</a:t>
            </a:fld>
            <a:endParaRPr lang="lv-LV"/>
          </a:p>
        </p:txBody>
      </p:sp>
      <p:sp>
        <p:nvSpPr>
          <p:cNvPr id="5" name="Kājenes vietturis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aida numura vietturis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11F0-D595-438F-9009-404C1BE0D718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42125429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3588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a viettur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Teksta vietturis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4" name="Datuma vietturis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7FC86-4504-4571-A405-93BD3772E0A0}" type="datetimeFigureOut">
              <a:rPr lang="lv-LV" smtClean="0"/>
              <a:t>01.04.2026</a:t>
            </a:fld>
            <a:endParaRPr lang="lv-LV"/>
          </a:p>
        </p:txBody>
      </p:sp>
      <p:sp>
        <p:nvSpPr>
          <p:cNvPr id="5" name="Kājenes vietturis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v-LV"/>
          </a:p>
        </p:txBody>
      </p:sp>
      <p:sp>
        <p:nvSpPr>
          <p:cNvPr id="6" name="Slaida numura vietturis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A11F0-D595-438F-9009-404C1BE0D718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194575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v-LV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ctrTitle"/>
          </p:nvPr>
        </p:nvSpPr>
        <p:spPr>
          <a:xfrm>
            <a:off x="1524000" y="929416"/>
            <a:ext cx="9144000" cy="2387600"/>
          </a:xfrm>
        </p:spPr>
        <p:txBody>
          <a:bodyPr wrap="square">
            <a:normAutofit/>
          </a:bodyPr>
          <a:lstStyle/>
          <a:p>
            <a:r>
              <a:rPr sz="3600"/>
              <a:t>Liepājas Draudzīgā aicinājuma vidusskola</a:t>
            </a:r>
          </a:p>
          <a:p>
            <a:r>
              <a:rPr sz="3600"/>
              <a:t>Failu drošības nodrošināšana ar lokālu Python lietotni</a:t>
            </a:r>
          </a:p>
          <a:p>
            <a:r>
              <a:rPr sz="3600"/>
              <a:t>Pētniecības darbs Programmēšana II</a:t>
            </a:r>
          </a:p>
        </p:txBody>
      </p:sp>
      <p:sp>
        <p:nvSpPr>
          <p:cNvPr id="3" name="Apakšvirsrakst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10185400" cy="2633662"/>
          </a:xfrm>
        </p:spPr>
        <p:txBody>
          <a:bodyPr wrap="square">
            <a:normAutofit fontScale="77500" lnSpcReduction="20000"/>
          </a:bodyPr>
          <a:lstStyle/>
          <a:p>
            <a:pPr algn="r"/>
            <a:r>
              <a:rPr dirty="0" err="1"/>
              <a:t>Darba</a:t>
            </a:r>
            <a:r>
              <a:rPr dirty="0"/>
              <a:t> </a:t>
            </a:r>
            <a:r>
              <a:rPr dirty="0" err="1"/>
              <a:t>autori</a:t>
            </a:r>
            <a:r>
              <a:rPr dirty="0"/>
              <a:t>:</a:t>
            </a:r>
          </a:p>
          <a:p>
            <a:pPr algn="r"/>
            <a:r>
              <a:rPr dirty="0"/>
              <a:t>Markuss </a:t>
            </a:r>
            <a:r>
              <a:rPr dirty="0" err="1"/>
              <a:t>Segliņš</a:t>
            </a:r>
            <a:r>
              <a:rPr dirty="0"/>
              <a:t>, 12.A </a:t>
            </a:r>
            <a:r>
              <a:rPr dirty="0" err="1"/>
              <a:t>klase</a:t>
            </a:r>
            <a:endParaRPr dirty="0"/>
          </a:p>
          <a:p>
            <a:pPr algn="r"/>
            <a:r>
              <a:rPr dirty="0"/>
              <a:t>Mārtiņš </a:t>
            </a:r>
            <a:r>
              <a:rPr dirty="0" err="1"/>
              <a:t>Klievēns</a:t>
            </a:r>
            <a:r>
              <a:rPr dirty="0"/>
              <a:t>, 12.A </a:t>
            </a:r>
            <a:r>
              <a:rPr dirty="0" err="1"/>
              <a:t>klase</a:t>
            </a:r>
            <a:endParaRPr dirty="0"/>
          </a:p>
          <a:p>
            <a:pPr algn="r"/>
            <a:endParaRPr dirty="0"/>
          </a:p>
          <a:p>
            <a:pPr algn="r"/>
            <a:r>
              <a:rPr dirty="0" err="1"/>
              <a:t>Darba</a:t>
            </a:r>
            <a:r>
              <a:rPr dirty="0"/>
              <a:t> </a:t>
            </a:r>
            <a:r>
              <a:rPr dirty="0" err="1"/>
              <a:t>vadītājs</a:t>
            </a:r>
            <a:r>
              <a:rPr dirty="0"/>
              <a:t>:</a:t>
            </a:r>
          </a:p>
          <a:p>
            <a:pPr algn="r"/>
            <a:r>
              <a:rPr dirty="0"/>
              <a:t>Artūrs </a:t>
            </a:r>
            <a:r>
              <a:rPr dirty="0" err="1"/>
              <a:t>Ausējs</a:t>
            </a:r>
            <a:endParaRPr dirty="0"/>
          </a:p>
          <a:p>
            <a:endParaRPr dirty="0"/>
          </a:p>
          <a:p>
            <a:r>
              <a:rPr dirty="0"/>
              <a:t>02.04.2026</a:t>
            </a:r>
          </a:p>
        </p:txBody>
      </p:sp>
    </p:spTree>
    <p:extLst>
      <p:ext uri="{BB962C8B-B14F-4D97-AF65-F5344CB8AC3E}">
        <p14:creationId xmlns:p14="http://schemas.microsoft.com/office/powerpoint/2010/main" val="3484501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b="1"/>
              <a:t>Sasniedzamie rezultāti:</a:t>
            </a:r>
          </a:p>
        </p:txBody>
      </p:sp>
      <p:sp>
        <p:nvSpPr>
          <p:cNvPr id="3" name="Satura vietturis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</a:pPr>
            <a:r>
              <a:rPr i="1"/>
              <a:t>• Izstrādāt objektorientētu Python lietotni ar grafisko lietotāja saskarni.</a:t>
            </a:r>
          </a:p>
          <a:p>
            <a:r>
              <a:rPr i="1"/>
              <a:t>• Pamatoti izmantot ārējās bibliotēkas un dokumentāciju konkrētas problēmas risināšanai.</a:t>
            </a:r>
          </a:p>
          <a:p>
            <a:r>
              <a:rPr i="1"/>
              <a:t>• Veikt testēšanu, analizēt rezultātus un dokumentēt izstrādāto risinājumu.</a:t>
            </a:r>
          </a:p>
          <a:p>
            <a:endParaRPr i="1"/>
          </a:p>
          <a:p>
            <a:r>
              <a:rPr i="1"/>
              <a:t>Saistība ar darbu:</a:t>
            </a:r>
          </a:p>
          <a:p>
            <a:r>
              <a:rPr i="1"/>
              <a:t>Lietotne apvieno OOP pieeju, kriptogrāfijas bibliotēku izmantošanu un praktisku testēšanu.</a:t>
            </a:r>
          </a:p>
        </p:txBody>
      </p:sp>
    </p:spTree>
    <p:extLst>
      <p:ext uri="{BB962C8B-B14F-4D97-AF65-F5344CB8AC3E}">
        <p14:creationId xmlns:p14="http://schemas.microsoft.com/office/powerpoint/2010/main" val="1674350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>
          <a:xfrm>
            <a:off x="157423" y="348347"/>
            <a:ext cx="10515600" cy="1325563"/>
          </a:xfrm>
        </p:spPr>
        <p:txBody>
          <a:bodyPr wrap="square">
            <a:normAutofit/>
          </a:bodyPr>
          <a:lstStyle/>
          <a:p>
            <a:r>
              <a:rPr b="1" dirty="0" err="1"/>
              <a:t>Caurviju</a:t>
            </a:r>
            <a:r>
              <a:rPr b="1" dirty="0"/>
              <a:t> </a:t>
            </a:r>
            <a:r>
              <a:rPr b="1" dirty="0" err="1"/>
              <a:t>prasmes</a:t>
            </a:r>
            <a:r>
              <a:rPr b="1" dirty="0"/>
              <a:t>:</a:t>
            </a:r>
            <a:endParaRPr lang="lv-LV" i="1" dirty="0"/>
          </a:p>
        </p:txBody>
      </p:sp>
      <p:sp>
        <p:nvSpPr>
          <p:cNvPr id="3" name="Satura vietturis 2"/>
          <p:cNvSpPr>
            <a:spLocks noGrp="1"/>
          </p:cNvSpPr>
          <p:nvPr>
            <p:ph idx="1"/>
          </p:nvPr>
        </p:nvSpPr>
        <p:spPr>
          <a:xfrm>
            <a:off x="157423" y="1774178"/>
            <a:ext cx="5714172" cy="4458842"/>
          </a:xfrm>
        </p:spPr>
        <p:txBody>
          <a:bodyPr wrap="square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sz="2100" dirty="0">
                <a:solidFill>
                  <a:srgbClr val="000000"/>
                </a:solidFill>
                <a:latin typeface="Arial"/>
              </a:rPr>
              <a:t>• </a:t>
            </a:r>
            <a:r>
              <a:rPr sz="2100" dirty="0" err="1">
                <a:solidFill>
                  <a:srgbClr val="000000"/>
                </a:solidFill>
                <a:latin typeface="Arial"/>
              </a:rPr>
              <a:t>Pašvadīta</a:t>
            </a:r>
            <a:r>
              <a:rPr sz="210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000000"/>
                </a:solidFill>
                <a:latin typeface="Arial"/>
              </a:rPr>
              <a:t>mācīšanās</a:t>
            </a:r>
            <a:r>
              <a:rPr sz="2100" dirty="0">
                <a:solidFill>
                  <a:srgbClr val="000000"/>
                </a:solidFill>
                <a:latin typeface="Arial"/>
              </a:rPr>
              <a:t> - </a:t>
            </a:r>
            <a:r>
              <a:rPr sz="2100" dirty="0" err="1">
                <a:solidFill>
                  <a:srgbClr val="000000"/>
                </a:solidFill>
                <a:latin typeface="Arial"/>
              </a:rPr>
              <a:t>patstāvīgi</a:t>
            </a:r>
            <a:r>
              <a:rPr sz="210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000000"/>
                </a:solidFill>
                <a:latin typeface="Arial"/>
              </a:rPr>
              <a:t>apguvām</a:t>
            </a:r>
            <a:r>
              <a:rPr sz="210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000000"/>
                </a:solidFill>
                <a:latin typeface="Arial"/>
              </a:rPr>
              <a:t>dokumentāciju</a:t>
            </a:r>
            <a:r>
              <a:rPr sz="2100" dirty="0">
                <a:solidFill>
                  <a:srgbClr val="000000"/>
                </a:solidFill>
                <a:latin typeface="Arial"/>
              </a:rPr>
              <a:t> un </a:t>
            </a:r>
            <a:r>
              <a:rPr sz="2100" dirty="0" err="1">
                <a:solidFill>
                  <a:srgbClr val="000000"/>
                </a:solidFill>
                <a:latin typeface="Arial"/>
              </a:rPr>
              <a:t>nepieciešamos</a:t>
            </a:r>
            <a:r>
              <a:rPr sz="210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000000"/>
                </a:solidFill>
                <a:latin typeface="Arial"/>
              </a:rPr>
              <a:t>risinājumus</a:t>
            </a:r>
            <a:r>
              <a:rPr sz="2100" dirty="0">
                <a:solidFill>
                  <a:srgbClr val="000000"/>
                </a:solidFill>
                <a:latin typeface="Arial"/>
              </a:rPr>
              <a:t>.</a:t>
            </a:r>
            <a:endParaRPr lang="en-US" sz="2100" dirty="0"/>
          </a:p>
          <a:p>
            <a:r>
              <a:rPr sz="2100" dirty="0">
                <a:solidFill>
                  <a:srgbClr val="000000"/>
                </a:solidFill>
                <a:latin typeface="Arial"/>
              </a:rPr>
              <a:t>• </a:t>
            </a:r>
            <a:r>
              <a:rPr sz="2100" dirty="0" err="1">
                <a:solidFill>
                  <a:srgbClr val="000000"/>
                </a:solidFill>
                <a:latin typeface="Arial"/>
              </a:rPr>
              <a:t>Sadarbība</a:t>
            </a:r>
            <a:r>
              <a:rPr sz="2100" dirty="0">
                <a:solidFill>
                  <a:srgbClr val="000000"/>
                </a:solidFill>
                <a:latin typeface="Arial"/>
              </a:rPr>
              <a:t> - </a:t>
            </a:r>
            <a:r>
              <a:rPr sz="2100" dirty="0" err="1">
                <a:solidFill>
                  <a:srgbClr val="000000"/>
                </a:solidFill>
                <a:latin typeface="Arial"/>
              </a:rPr>
              <a:t>sadalījām</a:t>
            </a:r>
            <a:r>
              <a:rPr sz="210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000000"/>
                </a:solidFill>
                <a:latin typeface="Arial"/>
              </a:rPr>
              <a:t>pienākumus</a:t>
            </a:r>
            <a:r>
              <a:rPr sz="2100" dirty="0">
                <a:solidFill>
                  <a:srgbClr val="000000"/>
                </a:solidFill>
                <a:latin typeface="Arial"/>
              </a:rPr>
              <a:t> un </a:t>
            </a:r>
            <a:r>
              <a:rPr sz="2100" dirty="0" err="1">
                <a:solidFill>
                  <a:srgbClr val="000000"/>
                </a:solidFill>
                <a:latin typeface="Arial"/>
              </a:rPr>
              <a:t>regulāri</a:t>
            </a:r>
            <a:r>
              <a:rPr sz="210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000000"/>
                </a:solidFill>
                <a:latin typeface="Arial"/>
              </a:rPr>
              <a:t>saskaņojām</a:t>
            </a:r>
            <a:r>
              <a:rPr sz="210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000000"/>
                </a:solidFill>
                <a:latin typeface="Arial"/>
              </a:rPr>
              <a:t>darba</a:t>
            </a:r>
            <a:r>
              <a:rPr sz="210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000000"/>
                </a:solidFill>
                <a:latin typeface="Arial"/>
              </a:rPr>
              <a:t>gaitu</a:t>
            </a:r>
            <a:r>
              <a:rPr sz="21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r>
              <a:rPr sz="2100" dirty="0">
                <a:solidFill>
                  <a:srgbClr val="000000"/>
                </a:solidFill>
                <a:latin typeface="Arial"/>
              </a:rPr>
              <a:t>• </a:t>
            </a:r>
            <a:r>
              <a:rPr sz="2100" dirty="0" err="1">
                <a:solidFill>
                  <a:srgbClr val="000000"/>
                </a:solidFill>
                <a:latin typeface="Arial"/>
              </a:rPr>
              <a:t>Digitālās</a:t>
            </a:r>
            <a:r>
              <a:rPr sz="210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000000"/>
                </a:solidFill>
                <a:latin typeface="Arial"/>
              </a:rPr>
              <a:t>prasmes</a:t>
            </a:r>
            <a:r>
              <a:rPr sz="2100" dirty="0">
                <a:solidFill>
                  <a:srgbClr val="000000"/>
                </a:solidFill>
                <a:latin typeface="Arial"/>
              </a:rPr>
              <a:t> - </a:t>
            </a:r>
            <a:r>
              <a:rPr sz="2100" dirty="0" err="1">
                <a:solidFill>
                  <a:srgbClr val="000000"/>
                </a:solidFill>
                <a:latin typeface="Arial"/>
              </a:rPr>
              <a:t>izstrādājām</a:t>
            </a:r>
            <a:r>
              <a:rPr sz="2100" dirty="0">
                <a:solidFill>
                  <a:srgbClr val="000000"/>
                </a:solidFill>
                <a:latin typeface="Arial"/>
              </a:rPr>
              <a:t>, </a:t>
            </a:r>
            <a:r>
              <a:rPr sz="2100" dirty="0" err="1">
                <a:solidFill>
                  <a:srgbClr val="000000"/>
                </a:solidFill>
                <a:latin typeface="Arial"/>
              </a:rPr>
              <a:t>testējām</a:t>
            </a:r>
            <a:r>
              <a:rPr sz="2100" dirty="0">
                <a:solidFill>
                  <a:srgbClr val="000000"/>
                </a:solidFill>
                <a:latin typeface="Arial"/>
              </a:rPr>
              <a:t> un </a:t>
            </a:r>
            <a:r>
              <a:rPr sz="2100" dirty="0" err="1">
                <a:solidFill>
                  <a:srgbClr val="000000"/>
                </a:solidFill>
                <a:latin typeface="Arial"/>
              </a:rPr>
              <a:t>dokumentējām</a:t>
            </a:r>
            <a:r>
              <a:rPr sz="210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000000"/>
                </a:solidFill>
                <a:latin typeface="Arial"/>
              </a:rPr>
              <a:t>lietotni</a:t>
            </a:r>
            <a:r>
              <a:rPr sz="21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r>
              <a:rPr sz="2100" dirty="0">
                <a:solidFill>
                  <a:srgbClr val="000000"/>
                </a:solidFill>
                <a:latin typeface="Arial"/>
              </a:rPr>
              <a:t>• </a:t>
            </a:r>
            <a:r>
              <a:rPr sz="2100" dirty="0" err="1">
                <a:solidFill>
                  <a:srgbClr val="000000"/>
                </a:solidFill>
                <a:latin typeface="Arial"/>
              </a:rPr>
              <a:t>Informācijpratība</a:t>
            </a:r>
            <a:r>
              <a:rPr sz="2100" dirty="0">
                <a:solidFill>
                  <a:srgbClr val="000000"/>
                </a:solidFill>
                <a:latin typeface="Arial"/>
              </a:rPr>
              <a:t> - </a:t>
            </a:r>
            <a:r>
              <a:rPr sz="2100" dirty="0" err="1">
                <a:solidFill>
                  <a:srgbClr val="000000"/>
                </a:solidFill>
                <a:latin typeface="Arial"/>
              </a:rPr>
              <a:t>atlasījām</a:t>
            </a:r>
            <a:r>
              <a:rPr sz="2100" dirty="0">
                <a:solidFill>
                  <a:srgbClr val="000000"/>
                </a:solidFill>
                <a:latin typeface="Arial"/>
              </a:rPr>
              <a:t> un </a:t>
            </a:r>
            <a:r>
              <a:rPr sz="2100" dirty="0" err="1">
                <a:solidFill>
                  <a:srgbClr val="000000"/>
                </a:solidFill>
                <a:latin typeface="Arial"/>
              </a:rPr>
              <a:t>izvērtējām</a:t>
            </a:r>
            <a:r>
              <a:rPr sz="210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000000"/>
                </a:solidFill>
                <a:latin typeface="Arial"/>
              </a:rPr>
              <a:t>tematam</a:t>
            </a:r>
            <a:r>
              <a:rPr sz="210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000000"/>
                </a:solidFill>
                <a:latin typeface="Arial"/>
              </a:rPr>
              <a:t>atbilstošus</a:t>
            </a:r>
            <a:r>
              <a:rPr sz="210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000000"/>
                </a:solidFill>
                <a:latin typeface="Arial"/>
              </a:rPr>
              <a:t>informācijas</a:t>
            </a:r>
            <a:r>
              <a:rPr sz="210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000000"/>
                </a:solidFill>
                <a:latin typeface="Arial"/>
              </a:rPr>
              <a:t>avotus</a:t>
            </a:r>
            <a:r>
              <a:rPr sz="21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794EAD-2AD4-B7AB-3EC0-E7375840DA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595" y="2010395"/>
            <a:ext cx="5868669" cy="37792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165942-EE00-CA33-AEB0-A92302F7EB11}"/>
              </a:ext>
            </a:extLst>
          </p:cNvPr>
          <p:cNvSpPr txBox="1"/>
          <p:nvPr/>
        </p:nvSpPr>
        <p:spPr>
          <a:xfrm>
            <a:off x="5483603" y="6025851"/>
            <a:ext cx="6094602" cy="30777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1400" i="1">
                <a:solidFill>
                  <a:srgbClr val="4A4A4A"/>
                </a:solidFill>
                <a:latin typeface="Arial"/>
              </a:rPr>
              <a:t>Darba izstrādes procesā notika regulāra saziņa un darba sadale.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85405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>
          <a:xfrm>
            <a:off x="485863" y="554894"/>
            <a:ext cx="10515600" cy="638175"/>
          </a:xfrm>
        </p:spPr>
        <p:txBody>
          <a:bodyPr wrap="square">
            <a:normAutofit/>
          </a:bodyPr>
          <a:lstStyle/>
          <a:p>
            <a:r>
              <a:rPr b="1">
                <a:solidFill>
                  <a:srgbClr val="000000"/>
                </a:solidFill>
                <a:latin typeface="Arial"/>
              </a:rPr>
              <a:t>Problēma un aktualitāte</a:t>
            </a:r>
            <a:endParaRPr lang="lv-LV" dirty="0"/>
          </a:p>
        </p:txBody>
      </p:sp>
      <p:sp>
        <p:nvSpPr>
          <p:cNvPr id="3" name="Satura vietturis 2"/>
          <p:cNvSpPr>
            <a:spLocks noGrp="1"/>
          </p:cNvSpPr>
          <p:nvPr>
            <p:ph idx="1"/>
          </p:nvPr>
        </p:nvSpPr>
        <p:spPr>
          <a:xfrm>
            <a:off x="670421" y="1355056"/>
            <a:ext cx="10515600" cy="477996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b="1" dirty="0" err="1"/>
              <a:t>Problēma</a:t>
            </a:r>
            <a:r>
              <a:rPr sz="2600" b="1" dirty="0"/>
              <a:t>:</a:t>
            </a:r>
          </a:p>
          <a:p>
            <a:r>
              <a:rPr sz="2600" dirty="0" err="1"/>
              <a:t>Daudzi</a:t>
            </a:r>
            <a:r>
              <a:rPr sz="2600" dirty="0"/>
              <a:t> </a:t>
            </a:r>
            <a:r>
              <a:rPr sz="2600" dirty="0" err="1"/>
              <a:t>lietotāji</a:t>
            </a:r>
            <a:r>
              <a:rPr sz="2600" dirty="0"/>
              <a:t> </a:t>
            </a:r>
            <a:r>
              <a:rPr sz="2600" dirty="0" err="1"/>
              <a:t>glabā</a:t>
            </a:r>
            <a:r>
              <a:rPr sz="2600" dirty="0"/>
              <a:t> </a:t>
            </a:r>
            <a:r>
              <a:rPr sz="2600" dirty="0" err="1"/>
              <a:t>konfidenciālus</a:t>
            </a:r>
            <a:r>
              <a:rPr sz="2600" dirty="0"/>
              <a:t> </a:t>
            </a:r>
            <a:r>
              <a:rPr sz="2600" dirty="0" err="1"/>
              <a:t>failus</a:t>
            </a:r>
            <a:r>
              <a:rPr sz="2600" dirty="0"/>
              <a:t> </a:t>
            </a:r>
            <a:r>
              <a:rPr sz="2600" dirty="0" err="1"/>
              <a:t>lokāli</a:t>
            </a:r>
            <a:r>
              <a:rPr sz="2600" dirty="0"/>
              <a:t> bez </a:t>
            </a:r>
            <a:r>
              <a:rPr sz="2600" dirty="0" err="1"/>
              <a:t>pietiekamas</a:t>
            </a:r>
            <a:r>
              <a:rPr sz="2600" dirty="0"/>
              <a:t> </a:t>
            </a:r>
            <a:r>
              <a:rPr sz="2600" dirty="0" err="1"/>
              <a:t>aizsardzības</a:t>
            </a:r>
            <a:r>
              <a:rPr sz="2600" dirty="0"/>
              <a:t>, </a:t>
            </a:r>
            <a:r>
              <a:rPr sz="2600" dirty="0" err="1"/>
              <a:t>tāpēc</a:t>
            </a:r>
            <a:r>
              <a:rPr sz="2600" dirty="0"/>
              <a:t> </a:t>
            </a:r>
            <a:r>
              <a:rPr sz="2600" dirty="0" err="1"/>
              <a:t>pieaug</a:t>
            </a:r>
            <a:r>
              <a:rPr sz="2600" dirty="0"/>
              <a:t> </a:t>
            </a:r>
            <a:r>
              <a:rPr sz="2600" dirty="0" err="1"/>
              <a:t>nesankcionētas</a:t>
            </a:r>
            <a:r>
              <a:rPr sz="2600" dirty="0"/>
              <a:t> </a:t>
            </a:r>
            <a:r>
              <a:rPr sz="2600" dirty="0" err="1"/>
              <a:t>piekļuves</a:t>
            </a:r>
            <a:r>
              <a:rPr sz="2600" dirty="0"/>
              <a:t> un datu </a:t>
            </a:r>
            <a:r>
              <a:rPr sz="2600" dirty="0" err="1"/>
              <a:t>noplūdes</a:t>
            </a:r>
            <a:r>
              <a:rPr sz="2600" dirty="0"/>
              <a:t> risks.</a:t>
            </a:r>
          </a:p>
          <a:p>
            <a:endParaRPr sz="2600" b="1" dirty="0"/>
          </a:p>
          <a:p>
            <a:r>
              <a:rPr b="1" dirty="0" err="1"/>
              <a:t>Aktualitāte</a:t>
            </a:r>
            <a:r>
              <a:rPr sz="2600" b="1" dirty="0"/>
              <a:t>:</a:t>
            </a:r>
          </a:p>
          <a:p>
            <a:r>
              <a:rPr sz="2600" dirty="0" err="1"/>
              <a:t>Pieaug</a:t>
            </a:r>
            <a:r>
              <a:rPr sz="2600" dirty="0"/>
              <a:t> </a:t>
            </a:r>
            <a:r>
              <a:rPr sz="2600" dirty="0" err="1"/>
              <a:t>kiberdrošības</a:t>
            </a:r>
            <a:r>
              <a:rPr sz="2600" dirty="0"/>
              <a:t> </a:t>
            </a:r>
            <a:r>
              <a:rPr sz="2600" dirty="0" err="1"/>
              <a:t>apdraudējumi</a:t>
            </a:r>
            <a:r>
              <a:rPr sz="2600" dirty="0"/>
              <a:t>, bet </a:t>
            </a:r>
            <a:r>
              <a:rPr sz="2600" dirty="0" err="1"/>
              <a:t>ikdienas</a:t>
            </a:r>
            <a:r>
              <a:rPr sz="2600" dirty="0"/>
              <a:t> </a:t>
            </a:r>
            <a:r>
              <a:rPr sz="2600" dirty="0" err="1"/>
              <a:t>lietotājam</a:t>
            </a:r>
            <a:r>
              <a:rPr sz="2600" dirty="0"/>
              <a:t> </a:t>
            </a:r>
            <a:r>
              <a:rPr sz="2600" dirty="0" err="1"/>
              <a:t>bieži</a:t>
            </a:r>
            <a:r>
              <a:rPr sz="2600" dirty="0"/>
              <a:t> </a:t>
            </a:r>
            <a:r>
              <a:rPr sz="2600" dirty="0" err="1"/>
              <a:t>trūkst</a:t>
            </a:r>
            <a:r>
              <a:rPr sz="2600" dirty="0"/>
              <a:t> </a:t>
            </a:r>
            <a:r>
              <a:rPr sz="2600" dirty="0" err="1"/>
              <a:t>vienkāršu</a:t>
            </a:r>
            <a:r>
              <a:rPr sz="2600" dirty="0"/>
              <a:t> un </a:t>
            </a:r>
            <a:r>
              <a:rPr sz="2600" dirty="0" err="1"/>
              <a:t>saprotamu</a:t>
            </a:r>
            <a:r>
              <a:rPr sz="2600" dirty="0"/>
              <a:t> </a:t>
            </a:r>
            <a:r>
              <a:rPr sz="2600" dirty="0" err="1"/>
              <a:t>lokālu</a:t>
            </a:r>
            <a:r>
              <a:rPr sz="2600" dirty="0"/>
              <a:t> </a:t>
            </a:r>
            <a:r>
              <a:rPr sz="2600" dirty="0" err="1"/>
              <a:t>rīku</a:t>
            </a:r>
            <a:r>
              <a:rPr sz="2600" dirty="0"/>
              <a:t> </a:t>
            </a:r>
            <a:r>
              <a:rPr sz="2600" dirty="0" err="1"/>
              <a:t>failu</a:t>
            </a:r>
            <a:r>
              <a:rPr sz="2600" dirty="0"/>
              <a:t> </a:t>
            </a:r>
            <a:r>
              <a:rPr sz="2600" dirty="0" err="1"/>
              <a:t>aizsardzībai</a:t>
            </a:r>
            <a:r>
              <a:rPr sz="2600" dirty="0"/>
              <a:t>.</a:t>
            </a:r>
          </a:p>
          <a:p>
            <a:r>
              <a:rPr sz="2600" dirty="0" err="1"/>
              <a:t>Tādēļ</a:t>
            </a:r>
            <a:r>
              <a:rPr sz="2600" dirty="0"/>
              <a:t> </a:t>
            </a:r>
            <a:r>
              <a:rPr sz="2600" dirty="0" err="1"/>
              <a:t>lokālas</a:t>
            </a:r>
            <a:r>
              <a:rPr sz="2600" dirty="0"/>
              <a:t> </a:t>
            </a:r>
            <a:r>
              <a:rPr sz="2600" dirty="0" err="1"/>
              <a:t>šifrēšanas</a:t>
            </a:r>
            <a:r>
              <a:rPr sz="2600" dirty="0"/>
              <a:t> </a:t>
            </a:r>
            <a:r>
              <a:rPr sz="2600" dirty="0" err="1"/>
              <a:t>lietotnes</a:t>
            </a:r>
            <a:r>
              <a:rPr sz="2600" dirty="0"/>
              <a:t> </a:t>
            </a:r>
            <a:r>
              <a:rPr sz="2600" dirty="0" err="1"/>
              <a:t>izstrāde</a:t>
            </a:r>
            <a:r>
              <a:rPr sz="2600" dirty="0"/>
              <a:t> </a:t>
            </a:r>
            <a:r>
              <a:rPr sz="2600" dirty="0" err="1"/>
              <a:t>ir</a:t>
            </a:r>
            <a:r>
              <a:rPr sz="2600" dirty="0"/>
              <a:t> </a:t>
            </a:r>
            <a:r>
              <a:rPr sz="2600" dirty="0" err="1"/>
              <a:t>praktiski</a:t>
            </a:r>
            <a:r>
              <a:rPr sz="2600" dirty="0"/>
              <a:t> </a:t>
            </a:r>
            <a:r>
              <a:rPr sz="2600" dirty="0" err="1"/>
              <a:t>nozīmīga</a:t>
            </a:r>
            <a:r>
              <a:rPr sz="2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2407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085975"/>
          </a:xfrm>
        </p:spPr>
        <p:txBody>
          <a:bodyPr wrap="square">
            <a:normAutofit/>
          </a:bodyPr>
          <a:lstStyle/>
          <a:p>
            <a:r>
              <a:rPr sz="4000" b="1" dirty="0" err="1"/>
              <a:t>Mērķis</a:t>
            </a:r>
            <a:r>
              <a:rPr sz="2600" b="1" dirty="0"/>
              <a:t>:</a:t>
            </a:r>
            <a:endParaRPr lang="lv-LV" sz="2600" i="1" dirty="0"/>
          </a:p>
          <a:p>
            <a:r>
              <a:rPr sz="2600" b="1" dirty="0" err="1"/>
              <a:t>Izstrādāt</a:t>
            </a:r>
            <a:r>
              <a:rPr sz="2600" b="1" dirty="0"/>
              <a:t> </a:t>
            </a:r>
            <a:r>
              <a:rPr sz="2600" b="1" dirty="0" err="1"/>
              <a:t>lokālu</a:t>
            </a:r>
            <a:r>
              <a:rPr sz="2600" b="1" dirty="0"/>
              <a:t> Python </a:t>
            </a:r>
            <a:r>
              <a:rPr sz="2600" b="1" dirty="0" err="1"/>
              <a:t>lietotni</a:t>
            </a:r>
            <a:r>
              <a:rPr sz="2600" b="1" dirty="0"/>
              <a:t> </a:t>
            </a:r>
            <a:r>
              <a:rPr sz="2600" b="1" dirty="0" err="1"/>
              <a:t>ar</a:t>
            </a:r>
            <a:r>
              <a:rPr sz="2600" b="1" dirty="0"/>
              <a:t> </a:t>
            </a:r>
            <a:r>
              <a:rPr sz="2600" b="1" dirty="0" err="1"/>
              <a:t>grafisko</a:t>
            </a:r>
            <a:r>
              <a:rPr sz="2600" b="1" dirty="0"/>
              <a:t> </a:t>
            </a:r>
            <a:r>
              <a:rPr sz="2600" b="1" dirty="0" err="1"/>
              <a:t>lietotāja</a:t>
            </a:r>
            <a:r>
              <a:rPr sz="2600" b="1" dirty="0"/>
              <a:t> </a:t>
            </a:r>
            <a:r>
              <a:rPr sz="2600" b="1" dirty="0" err="1"/>
              <a:t>saskarni</a:t>
            </a:r>
            <a:r>
              <a:rPr sz="2600" b="1" dirty="0"/>
              <a:t>, kas </a:t>
            </a:r>
            <a:r>
              <a:rPr sz="2600" b="1" dirty="0" err="1"/>
              <a:t>ļauj</a:t>
            </a:r>
            <a:r>
              <a:rPr sz="2600" b="1" dirty="0"/>
              <a:t> </a:t>
            </a:r>
            <a:r>
              <a:rPr sz="2600" b="1" dirty="0" err="1"/>
              <a:t>lietotājam</a:t>
            </a:r>
            <a:r>
              <a:rPr sz="2600" b="1" dirty="0"/>
              <a:t> </a:t>
            </a:r>
            <a:r>
              <a:rPr sz="2600" b="1" dirty="0" err="1"/>
              <a:t>droši</a:t>
            </a:r>
            <a:r>
              <a:rPr sz="2600" b="1" dirty="0"/>
              <a:t> </a:t>
            </a:r>
            <a:r>
              <a:rPr sz="2600" b="1" dirty="0" err="1"/>
              <a:t>šifrēt</a:t>
            </a:r>
            <a:r>
              <a:rPr sz="2600" b="1" dirty="0"/>
              <a:t> un </a:t>
            </a:r>
            <a:r>
              <a:rPr sz="2600" b="1" dirty="0" err="1"/>
              <a:t>atšifrēt</a:t>
            </a:r>
            <a:r>
              <a:rPr sz="2600" b="1" dirty="0"/>
              <a:t> </a:t>
            </a:r>
            <a:r>
              <a:rPr sz="2600" b="1" dirty="0" err="1"/>
              <a:t>failus</a:t>
            </a:r>
            <a:r>
              <a:rPr sz="2600" b="1" dirty="0"/>
              <a:t>, </a:t>
            </a:r>
            <a:r>
              <a:rPr sz="2600" b="1" dirty="0" err="1"/>
              <a:t>izmantojot</a:t>
            </a:r>
            <a:r>
              <a:rPr sz="2600" b="1" dirty="0"/>
              <a:t> </a:t>
            </a:r>
            <a:r>
              <a:rPr sz="2600" b="1" dirty="0" err="1"/>
              <a:t>simetrisko</a:t>
            </a:r>
            <a:r>
              <a:rPr sz="2600" b="1" dirty="0"/>
              <a:t> </a:t>
            </a:r>
            <a:r>
              <a:rPr sz="2600" b="1" dirty="0" err="1"/>
              <a:t>šifrēšanu</a:t>
            </a:r>
            <a:r>
              <a:rPr sz="2600" b="1" dirty="0"/>
              <a:t>.</a:t>
            </a:r>
          </a:p>
        </p:txBody>
      </p:sp>
      <p:sp>
        <p:nvSpPr>
          <p:cNvPr id="3" name="Satura vietturis 2"/>
          <p:cNvSpPr>
            <a:spLocks noGrp="1"/>
          </p:cNvSpPr>
          <p:nvPr>
            <p:ph idx="1"/>
          </p:nvPr>
        </p:nvSpPr>
        <p:spPr>
          <a:xfrm>
            <a:off x="838200" y="2920999"/>
            <a:ext cx="10515600" cy="325596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b="1" dirty="0" err="1"/>
              <a:t>Uzdevumi</a:t>
            </a:r>
            <a:r>
              <a:rPr sz="2600" b="1" dirty="0"/>
              <a:t>:</a:t>
            </a:r>
            <a:endParaRPr lang="en-US" sz="2600" b="1" dirty="0"/>
          </a:p>
          <a:p>
            <a:r>
              <a:rPr sz="2600" dirty="0"/>
              <a:t>1. </a:t>
            </a:r>
            <a:r>
              <a:rPr sz="2600" dirty="0" err="1"/>
              <a:t>Izpētīt</a:t>
            </a:r>
            <a:r>
              <a:rPr sz="2600" dirty="0"/>
              <a:t> </a:t>
            </a:r>
            <a:r>
              <a:rPr sz="2600" dirty="0" err="1"/>
              <a:t>simetriskās</a:t>
            </a:r>
            <a:r>
              <a:rPr sz="2600" dirty="0"/>
              <a:t> </a:t>
            </a:r>
            <a:r>
              <a:rPr sz="2600" dirty="0" err="1"/>
              <a:t>šifrēšanas</a:t>
            </a:r>
            <a:r>
              <a:rPr sz="2600" dirty="0"/>
              <a:t> </a:t>
            </a:r>
            <a:r>
              <a:rPr sz="2600" dirty="0" err="1"/>
              <a:t>teorētiskos</a:t>
            </a:r>
            <a:r>
              <a:rPr sz="2600" dirty="0"/>
              <a:t> </a:t>
            </a:r>
            <a:r>
              <a:rPr sz="2600" dirty="0" err="1"/>
              <a:t>principus</a:t>
            </a:r>
            <a:r>
              <a:rPr sz="2600" dirty="0"/>
              <a:t>.</a:t>
            </a:r>
          </a:p>
          <a:p>
            <a:r>
              <a:rPr sz="2600" dirty="0"/>
              <a:t>2. </a:t>
            </a:r>
            <a:r>
              <a:rPr sz="2600" dirty="0" err="1"/>
              <a:t>Izvēlēties</a:t>
            </a:r>
            <a:r>
              <a:rPr sz="2600" dirty="0"/>
              <a:t> un </a:t>
            </a:r>
            <a:r>
              <a:rPr sz="2600" dirty="0" err="1"/>
              <a:t>pamatot</a:t>
            </a:r>
            <a:r>
              <a:rPr sz="2600" dirty="0"/>
              <a:t> </a:t>
            </a:r>
            <a:r>
              <a:rPr sz="2600" dirty="0" err="1"/>
              <a:t>bibliotēkas</a:t>
            </a:r>
            <a:r>
              <a:rPr sz="2600" dirty="0"/>
              <a:t> </a:t>
            </a:r>
            <a:r>
              <a:rPr sz="2600" dirty="0" err="1"/>
              <a:t>cryptography.Fernet</a:t>
            </a:r>
            <a:r>
              <a:rPr sz="2600" dirty="0"/>
              <a:t> </a:t>
            </a:r>
            <a:r>
              <a:rPr sz="2600" dirty="0" err="1"/>
              <a:t>izmantošanu</a:t>
            </a:r>
            <a:r>
              <a:rPr sz="2600" dirty="0"/>
              <a:t>.</a:t>
            </a:r>
          </a:p>
          <a:p>
            <a:r>
              <a:rPr sz="2600" dirty="0"/>
              <a:t>3. </a:t>
            </a:r>
            <a:r>
              <a:rPr sz="2600" dirty="0" err="1"/>
              <a:t>Izplānot</a:t>
            </a:r>
            <a:r>
              <a:rPr sz="2600" dirty="0"/>
              <a:t> </a:t>
            </a:r>
            <a:r>
              <a:rPr sz="2600" dirty="0" err="1"/>
              <a:t>programmas</a:t>
            </a:r>
            <a:r>
              <a:rPr sz="2600" dirty="0"/>
              <a:t> </a:t>
            </a:r>
            <a:r>
              <a:rPr sz="2600" dirty="0" err="1"/>
              <a:t>struktūru</a:t>
            </a:r>
            <a:r>
              <a:rPr sz="2600" dirty="0"/>
              <a:t>, GUI un </a:t>
            </a:r>
            <a:r>
              <a:rPr sz="2600" dirty="0" err="1"/>
              <a:t>servisu</a:t>
            </a:r>
            <a:r>
              <a:rPr sz="2600" dirty="0"/>
              <a:t> </a:t>
            </a:r>
            <a:r>
              <a:rPr sz="2600" dirty="0" err="1"/>
              <a:t>sadalījumu</a:t>
            </a:r>
            <a:r>
              <a:rPr sz="2600" dirty="0"/>
              <a:t>.</a:t>
            </a:r>
          </a:p>
          <a:p>
            <a:r>
              <a:rPr sz="2600" dirty="0"/>
              <a:t>4. </a:t>
            </a:r>
            <a:r>
              <a:rPr sz="2600" dirty="0" err="1"/>
              <a:t>Izstrādāt</a:t>
            </a:r>
            <a:r>
              <a:rPr sz="2600" dirty="0"/>
              <a:t> </a:t>
            </a:r>
            <a:r>
              <a:rPr sz="2600" dirty="0" err="1"/>
              <a:t>lietotni</a:t>
            </a:r>
            <a:r>
              <a:rPr sz="2600" dirty="0"/>
              <a:t> </a:t>
            </a:r>
            <a:r>
              <a:rPr sz="2600" dirty="0" err="1"/>
              <a:t>ar</a:t>
            </a:r>
            <a:r>
              <a:rPr sz="2600" dirty="0"/>
              <a:t> </a:t>
            </a:r>
            <a:r>
              <a:rPr sz="2600" dirty="0" err="1"/>
              <a:t>faila</a:t>
            </a:r>
            <a:r>
              <a:rPr sz="2600" dirty="0"/>
              <a:t> </a:t>
            </a:r>
            <a:r>
              <a:rPr sz="2600" dirty="0" err="1"/>
              <a:t>izvēli</a:t>
            </a:r>
            <a:r>
              <a:rPr sz="2600" dirty="0"/>
              <a:t>, </a:t>
            </a:r>
            <a:r>
              <a:rPr sz="2600" dirty="0" err="1"/>
              <a:t>atslēgas</a:t>
            </a:r>
            <a:r>
              <a:rPr sz="2600" dirty="0"/>
              <a:t> </a:t>
            </a:r>
            <a:r>
              <a:rPr sz="2600" dirty="0" err="1"/>
              <a:t>ģenerēšanu</a:t>
            </a:r>
            <a:r>
              <a:rPr sz="2600" dirty="0"/>
              <a:t>, </a:t>
            </a:r>
            <a:r>
              <a:rPr sz="2600" dirty="0" err="1"/>
              <a:t>saglabāšanu</a:t>
            </a:r>
            <a:r>
              <a:rPr sz="2600" dirty="0"/>
              <a:t> un </a:t>
            </a:r>
            <a:r>
              <a:rPr sz="2600" dirty="0" err="1"/>
              <a:t>ielādi</a:t>
            </a:r>
            <a:r>
              <a:rPr sz="2600" dirty="0"/>
              <a:t>.</a:t>
            </a:r>
          </a:p>
          <a:p>
            <a:r>
              <a:rPr sz="2600" dirty="0"/>
              <a:t>5. </a:t>
            </a:r>
            <a:r>
              <a:rPr sz="2600" dirty="0" err="1"/>
              <a:t>Veikt</a:t>
            </a:r>
            <a:r>
              <a:rPr sz="2600" dirty="0"/>
              <a:t> </a:t>
            </a:r>
            <a:r>
              <a:rPr sz="2600" dirty="0" err="1"/>
              <a:t>testēšanu</a:t>
            </a:r>
            <a:r>
              <a:rPr sz="2600" dirty="0"/>
              <a:t> un </a:t>
            </a:r>
            <a:r>
              <a:rPr sz="2600" dirty="0" err="1"/>
              <a:t>izvērtēt</a:t>
            </a:r>
            <a:r>
              <a:rPr sz="2600" dirty="0"/>
              <a:t> </a:t>
            </a:r>
            <a:r>
              <a:rPr sz="2600" dirty="0" err="1"/>
              <a:t>iegūtos</a:t>
            </a:r>
            <a:r>
              <a:rPr sz="2600" dirty="0"/>
              <a:t> </a:t>
            </a:r>
            <a:r>
              <a:rPr sz="2600" dirty="0" err="1"/>
              <a:t>rezultātus</a:t>
            </a:r>
            <a:r>
              <a:rPr sz="2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0450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E8F41F3-2E0C-E2B1-4A77-B3D8427AD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b="1">
                <a:solidFill>
                  <a:srgbClr val="000000"/>
                </a:solidFill>
                <a:latin typeface="Arial"/>
              </a:rPr>
              <a:t>Pētījuma jautājums un metodes</a:t>
            </a:r>
            <a:endParaRPr lang="lv-LV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B310F53-C8ED-4873-36E4-2AB1B9AD0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dirty="0" err="1">
                <a:solidFill>
                  <a:srgbClr val="000000"/>
                </a:solidFill>
                <a:latin typeface="Arial"/>
              </a:rPr>
              <a:t>Pētījuma</a:t>
            </a:r>
            <a:r>
              <a:rPr dirty="0">
                <a:solidFill>
                  <a:srgbClr val="000000"/>
                </a:solidFill>
                <a:latin typeface="Arial"/>
              </a:rPr>
              <a:t> </a:t>
            </a:r>
            <a:r>
              <a:rPr dirty="0" err="1">
                <a:solidFill>
                  <a:srgbClr val="000000"/>
                </a:solidFill>
                <a:latin typeface="Arial"/>
              </a:rPr>
              <a:t>jautājums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7B9D01-603B-0DDF-5593-35C8F4D411A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>
            <a:normAutofit fontScale="92500" lnSpcReduction="10000"/>
          </a:bodyPr>
          <a:lstStyle/>
          <a:p>
            <a:pPr marL="0" indent="0">
              <a:lnSpc>
                <a:spcPct val="103000"/>
              </a:lnSpc>
              <a:buNone/>
            </a:pPr>
            <a:r>
              <a:rPr>
                <a:solidFill>
                  <a:srgbClr val="000000"/>
                </a:solidFill>
                <a:latin typeface="Arial"/>
              </a:rPr>
              <a:t>Kādi tehniskie un arhitektūras risinājumi ir piemērotākie drošas, saprotamas un lokāli lietojamas failu aizsardzības lietotnes izstrādei Python vidē?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90B2413-DC36-DC25-E30C-ABAEDF2B9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wrap="square">
            <a:normAutofit/>
          </a:bodyPr>
          <a:lstStyle/>
          <a:p>
            <a:r>
              <a:rPr dirty="0" err="1">
                <a:solidFill>
                  <a:srgbClr val="000000"/>
                </a:solidFill>
                <a:latin typeface="Arial"/>
              </a:rPr>
              <a:t>Pētījuma</a:t>
            </a:r>
            <a:r>
              <a:rPr dirty="0">
                <a:solidFill>
                  <a:srgbClr val="000000"/>
                </a:solidFill>
                <a:latin typeface="Arial"/>
              </a:rPr>
              <a:t> </a:t>
            </a:r>
            <a:r>
              <a:rPr dirty="0" err="1">
                <a:solidFill>
                  <a:srgbClr val="000000"/>
                </a:solidFill>
                <a:latin typeface="Arial"/>
              </a:rPr>
              <a:t>metodes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A937ABF-50CE-10FF-C17D-AF6F9419B85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wrap="square">
            <a:normAutofit fontScale="92500" lnSpcReduction="10000"/>
          </a:bodyPr>
          <a:lstStyle/>
          <a:p>
            <a:pPr marL="0" indent="0">
              <a:lnSpc>
                <a:spcPct val="103000"/>
              </a:lnSpc>
              <a:buNone/>
            </a:pPr>
            <a:r>
              <a:rPr dirty="0">
                <a:solidFill>
                  <a:srgbClr val="000000"/>
                </a:solidFill>
                <a:latin typeface="Arial"/>
              </a:rPr>
              <a:t>• </a:t>
            </a:r>
            <a:r>
              <a:rPr dirty="0" err="1">
                <a:solidFill>
                  <a:srgbClr val="000000"/>
                </a:solidFill>
                <a:latin typeface="Arial"/>
              </a:rPr>
              <a:t>Teorētiskā</a:t>
            </a:r>
            <a:r>
              <a:rPr dirty="0">
                <a:solidFill>
                  <a:srgbClr val="000000"/>
                </a:solidFill>
                <a:latin typeface="Arial"/>
              </a:rPr>
              <a:t> </a:t>
            </a:r>
            <a:r>
              <a:rPr dirty="0" err="1">
                <a:solidFill>
                  <a:srgbClr val="000000"/>
                </a:solidFill>
                <a:latin typeface="Arial"/>
              </a:rPr>
              <a:t>analīze</a:t>
            </a:r>
            <a:r>
              <a:rPr dirty="0">
                <a:solidFill>
                  <a:srgbClr val="000000"/>
                </a:solidFill>
                <a:latin typeface="Arial"/>
              </a:rPr>
              <a:t> par </a:t>
            </a:r>
            <a:r>
              <a:rPr dirty="0" err="1">
                <a:solidFill>
                  <a:srgbClr val="000000"/>
                </a:solidFill>
                <a:latin typeface="Arial"/>
              </a:rPr>
              <a:t>failu</a:t>
            </a:r>
            <a:r>
              <a:rPr dirty="0">
                <a:solidFill>
                  <a:srgbClr val="000000"/>
                </a:solidFill>
                <a:latin typeface="Arial"/>
              </a:rPr>
              <a:t> </a:t>
            </a:r>
            <a:r>
              <a:rPr dirty="0" err="1">
                <a:solidFill>
                  <a:srgbClr val="000000"/>
                </a:solidFill>
                <a:latin typeface="Arial"/>
              </a:rPr>
              <a:t>drošību</a:t>
            </a:r>
            <a:r>
              <a:rPr dirty="0">
                <a:solidFill>
                  <a:srgbClr val="000000"/>
                </a:solidFill>
                <a:latin typeface="Arial"/>
              </a:rPr>
              <a:t> un </a:t>
            </a:r>
            <a:r>
              <a:rPr dirty="0" err="1">
                <a:solidFill>
                  <a:srgbClr val="000000"/>
                </a:solidFill>
                <a:latin typeface="Arial"/>
              </a:rPr>
              <a:t>simetrisko</a:t>
            </a:r>
            <a:r>
              <a:rPr dirty="0">
                <a:solidFill>
                  <a:srgbClr val="000000"/>
                </a:solidFill>
                <a:latin typeface="Arial"/>
              </a:rPr>
              <a:t> </a:t>
            </a:r>
            <a:r>
              <a:rPr dirty="0" err="1">
                <a:solidFill>
                  <a:srgbClr val="000000"/>
                </a:solidFill>
                <a:latin typeface="Arial"/>
              </a:rPr>
              <a:t>šifrēšanu</a:t>
            </a:r>
            <a:r>
              <a:rPr dirty="0">
                <a:solidFill>
                  <a:srgbClr val="000000"/>
                </a:solidFill>
                <a:latin typeface="Arial"/>
              </a:rPr>
              <a:t>.</a:t>
            </a:r>
            <a:endParaRPr lang="en-US" dirty="0"/>
          </a:p>
          <a:p>
            <a:r>
              <a:rPr dirty="0">
                <a:solidFill>
                  <a:srgbClr val="000000"/>
                </a:solidFill>
                <a:latin typeface="Arial"/>
              </a:rPr>
              <a:t>• </a:t>
            </a:r>
            <a:r>
              <a:rPr dirty="0" err="1">
                <a:solidFill>
                  <a:srgbClr val="000000"/>
                </a:solidFill>
                <a:latin typeface="Arial"/>
              </a:rPr>
              <a:t>Programmatūras</a:t>
            </a:r>
            <a:r>
              <a:rPr dirty="0">
                <a:solidFill>
                  <a:srgbClr val="000000"/>
                </a:solidFill>
                <a:latin typeface="Arial"/>
              </a:rPr>
              <a:t> </a:t>
            </a:r>
            <a:r>
              <a:rPr dirty="0" err="1">
                <a:solidFill>
                  <a:srgbClr val="000000"/>
                </a:solidFill>
                <a:latin typeface="Arial"/>
              </a:rPr>
              <a:t>izstrādes</a:t>
            </a:r>
            <a:r>
              <a:rPr dirty="0">
                <a:solidFill>
                  <a:srgbClr val="000000"/>
                </a:solidFill>
                <a:latin typeface="Arial"/>
              </a:rPr>
              <a:t> </a:t>
            </a:r>
            <a:r>
              <a:rPr dirty="0" err="1">
                <a:solidFill>
                  <a:srgbClr val="000000"/>
                </a:solidFill>
                <a:latin typeface="Arial"/>
              </a:rPr>
              <a:t>analīze</a:t>
            </a:r>
            <a:r>
              <a:rPr dirty="0">
                <a:solidFill>
                  <a:srgbClr val="000000"/>
                </a:solidFill>
                <a:latin typeface="Arial"/>
              </a:rPr>
              <a:t>, </a:t>
            </a:r>
            <a:r>
              <a:rPr dirty="0" err="1">
                <a:solidFill>
                  <a:srgbClr val="000000"/>
                </a:solidFill>
                <a:latin typeface="Arial"/>
              </a:rPr>
              <a:t>izvērtējot</a:t>
            </a:r>
            <a:r>
              <a:rPr dirty="0">
                <a:solidFill>
                  <a:srgbClr val="000000"/>
                </a:solidFill>
                <a:latin typeface="Arial"/>
              </a:rPr>
              <a:t> GUI, </a:t>
            </a:r>
            <a:r>
              <a:rPr dirty="0" err="1">
                <a:solidFill>
                  <a:srgbClr val="000000"/>
                </a:solidFill>
                <a:latin typeface="Arial"/>
              </a:rPr>
              <a:t>servisu</a:t>
            </a:r>
            <a:r>
              <a:rPr dirty="0">
                <a:solidFill>
                  <a:srgbClr val="000000"/>
                </a:solidFill>
                <a:latin typeface="Arial"/>
              </a:rPr>
              <a:t> </a:t>
            </a:r>
            <a:r>
              <a:rPr dirty="0" err="1">
                <a:solidFill>
                  <a:srgbClr val="000000"/>
                </a:solidFill>
                <a:latin typeface="Arial"/>
              </a:rPr>
              <a:t>sadalījumu</a:t>
            </a:r>
            <a:r>
              <a:rPr dirty="0">
                <a:solidFill>
                  <a:srgbClr val="000000"/>
                </a:solidFill>
                <a:latin typeface="Arial"/>
              </a:rPr>
              <a:t> un OOP </a:t>
            </a:r>
            <a:r>
              <a:rPr dirty="0" err="1">
                <a:solidFill>
                  <a:srgbClr val="000000"/>
                </a:solidFill>
                <a:latin typeface="Arial"/>
              </a:rPr>
              <a:t>pieeju</a:t>
            </a:r>
            <a:r>
              <a:rPr dirty="0">
                <a:solidFill>
                  <a:srgbClr val="000000"/>
                </a:solidFill>
                <a:latin typeface="Arial"/>
              </a:rPr>
              <a:t>.</a:t>
            </a:r>
          </a:p>
          <a:p>
            <a:r>
              <a:rPr dirty="0">
                <a:solidFill>
                  <a:srgbClr val="000000"/>
                </a:solidFill>
                <a:latin typeface="Arial"/>
              </a:rPr>
              <a:t>• </a:t>
            </a:r>
            <a:r>
              <a:rPr dirty="0" err="1">
                <a:solidFill>
                  <a:srgbClr val="000000"/>
                </a:solidFill>
                <a:latin typeface="Arial"/>
              </a:rPr>
              <a:t>Eksperimentālā</a:t>
            </a:r>
            <a:r>
              <a:rPr dirty="0">
                <a:solidFill>
                  <a:srgbClr val="000000"/>
                </a:solidFill>
                <a:latin typeface="Arial"/>
              </a:rPr>
              <a:t> </a:t>
            </a:r>
            <a:r>
              <a:rPr dirty="0" err="1">
                <a:solidFill>
                  <a:srgbClr val="000000"/>
                </a:solidFill>
                <a:latin typeface="Arial"/>
              </a:rPr>
              <a:t>pārbaude</a:t>
            </a:r>
            <a:r>
              <a:rPr dirty="0">
                <a:solidFill>
                  <a:srgbClr val="000000"/>
                </a:solidFill>
                <a:latin typeface="Arial"/>
              </a:rPr>
              <a:t> </a:t>
            </a:r>
            <a:r>
              <a:rPr dirty="0" err="1">
                <a:solidFill>
                  <a:srgbClr val="000000"/>
                </a:solidFill>
                <a:latin typeface="Arial"/>
              </a:rPr>
              <a:t>ar</a:t>
            </a:r>
            <a:r>
              <a:rPr dirty="0">
                <a:solidFill>
                  <a:srgbClr val="000000"/>
                </a:solidFill>
                <a:latin typeface="Arial"/>
              </a:rPr>
              <a:t> </a:t>
            </a:r>
            <a:r>
              <a:rPr dirty="0" err="1">
                <a:solidFill>
                  <a:srgbClr val="000000"/>
                </a:solidFill>
                <a:latin typeface="Arial"/>
              </a:rPr>
              <a:t>dažādiem</a:t>
            </a:r>
            <a:r>
              <a:rPr dirty="0">
                <a:solidFill>
                  <a:srgbClr val="000000"/>
                </a:solidFill>
                <a:latin typeface="Arial"/>
              </a:rPr>
              <a:t> </a:t>
            </a:r>
            <a:r>
              <a:rPr dirty="0" err="1">
                <a:solidFill>
                  <a:srgbClr val="000000"/>
                </a:solidFill>
                <a:latin typeface="Arial"/>
              </a:rPr>
              <a:t>failu</a:t>
            </a:r>
            <a:r>
              <a:rPr dirty="0">
                <a:solidFill>
                  <a:srgbClr val="000000"/>
                </a:solidFill>
                <a:latin typeface="Arial"/>
              </a:rPr>
              <a:t> </a:t>
            </a:r>
            <a:r>
              <a:rPr dirty="0" err="1">
                <a:solidFill>
                  <a:srgbClr val="000000"/>
                </a:solidFill>
                <a:latin typeface="Arial"/>
              </a:rPr>
              <a:t>tipiem</a:t>
            </a:r>
            <a:r>
              <a:rPr dirty="0">
                <a:solidFill>
                  <a:srgbClr val="000000"/>
                </a:solidFill>
                <a:latin typeface="Arial"/>
              </a:rPr>
              <a:t>.</a:t>
            </a:r>
          </a:p>
          <a:p>
            <a:r>
              <a:rPr dirty="0">
                <a:solidFill>
                  <a:srgbClr val="000000"/>
                </a:solidFill>
                <a:latin typeface="Arial"/>
              </a:rPr>
              <a:t>• </a:t>
            </a:r>
            <a:r>
              <a:rPr dirty="0" err="1">
                <a:solidFill>
                  <a:srgbClr val="000000"/>
                </a:solidFill>
                <a:latin typeface="Arial"/>
              </a:rPr>
              <a:t>Automatizēto</a:t>
            </a:r>
            <a:r>
              <a:rPr dirty="0">
                <a:solidFill>
                  <a:srgbClr val="000000"/>
                </a:solidFill>
                <a:latin typeface="Arial"/>
              </a:rPr>
              <a:t> </a:t>
            </a:r>
            <a:r>
              <a:rPr dirty="0" err="1">
                <a:solidFill>
                  <a:srgbClr val="000000"/>
                </a:solidFill>
                <a:latin typeface="Arial"/>
              </a:rPr>
              <a:t>testu</a:t>
            </a:r>
            <a:r>
              <a:rPr dirty="0">
                <a:solidFill>
                  <a:srgbClr val="000000"/>
                </a:solidFill>
                <a:latin typeface="Arial"/>
              </a:rPr>
              <a:t> </a:t>
            </a:r>
            <a:r>
              <a:rPr dirty="0" err="1">
                <a:solidFill>
                  <a:srgbClr val="000000"/>
                </a:solidFill>
                <a:latin typeface="Arial"/>
              </a:rPr>
              <a:t>validācija</a:t>
            </a:r>
            <a:r>
              <a:rPr dirty="0">
                <a:solidFill>
                  <a:srgbClr val="000000"/>
                </a:solidFill>
                <a:latin typeface="Arial"/>
              </a:rPr>
              <a:t> </a:t>
            </a:r>
            <a:r>
              <a:rPr dirty="0" err="1">
                <a:solidFill>
                  <a:srgbClr val="000000"/>
                </a:solidFill>
                <a:latin typeface="Arial"/>
              </a:rPr>
              <a:t>ar</a:t>
            </a:r>
            <a:r>
              <a:rPr dirty="0">
                <a:solidFill>
                  <a:srgbClr val="000000"/>
                </a:solidFill>
                <a:latin typeface="Arial"/>
              </a:rPr>
              <a:t> </a:t>
            </a:r>
            <a:r>
              <a:rPr dirty="0" err="1">
                <a:solidFill>
                  <a:srgbClr val="000000"/>
                </a:solidFill>
                <a:latin typeface="Arial"/>
              </a:rPr>
              <a:t>pytest</a:t>
            </a:r>
            <a:r>
              <a:rPr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382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A6AC748A-D3E3-071E-5245-D4EAE8115808}"/>
              </a:ext>
            </a:extLst>
          </p:cNvPr>
          <p:cNvSpPr/>
          <p:nvPr/>
        </p:nvSpPr>
        <p:spPr>
          <a:xfrm>
            <a:off x="841248" y="32918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000000"/>
                </a:solidFill>
                <a:latin typeface="Arial"/>
              </a:rPr>
              <a:t>Pētījuma rezultāti: izstrādātā lietotne</a:t>
            </a:r>
            <a:endParaRPr lang="en-US" sz="20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B9B5E953-BC74-4DBE-7F9C-96B4A8FDC99E}"/>
              </a:ext>
            </a:extLst>
          </p:cNvPr>
          <p:cNvSpPr/>
          <p:nvPr/>
        </p:nvSpPr>
        <p:spPr>
          <a:xfrm>
            <a:off x="673468" y="892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000000"/>
                </a:solidFill>
                <a:latin typeface="Arial"/>
              </a:rPr>
              <a:t>Galvenie rezultāti:</a:t>
            </a:r>
            <a:endParaRPr lang="en-US" sz="18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11B772AE-7156-B450-E922-984B0EA26507}"/>
              </a:ext>
            </a:extLst>
          </p:cNvPr>
          <p:cNvSpPr/>
          <p:nvPr/>
        </p:nvSpPr>
        <p:spPr>
          <a:xfrm>
            <a:off x="673468" y="1365056"/>
            <a:ext cx="4983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sz="1440">
                <a:solidFill>
                  <a:srgbClr val="000000"/>
                </a:solidFill>
                <a:latin typeface="Arial"/>
              </a:rPr>
              <a:t>• Izveidota lokāla GUI lietotne Python un Tkinter vidē.</a:t>
            </a:r>
            <a:endParaRPr lang="en-US" sz="1440" dirty="0"/>
          </a:p>
          <a:p>
            <a:r>
              <a:rPr sz="1440">
                <a:solidFill>
                  <a:srgbClr val="000000"/>
                </a:solidFill>
                <a:latin typeface="Arial"/>
              </a:rPr>
              <a:t>• Lietotājs var izvēlēties failu, ģenerēt vai ielādēt atslēgu, kā arī šifrēt un atšifrēt failu.</a:t>
            </a:r>
          </a:p>
          <a:p>
            <a:r>
              <a:rPr sz="1440">
                <a:solidFill>
                  <a:srgbClr val="000000"/>
                </a:solidFill>
                <a:latin typeface="Arial"/>
              </a:rPr>
              <a:t>• Šifrētais fails tiek saglabāts jaunā failā, piemēram, *.encrypted.</a:t>
            </a:r>
          </a:p>
          <a:p>
            <a:r>
              <a:rPr sz="1440">
                <a:solidFill>
                  <a:srgbClr val="000000"/>
                </a:solidFill>
                <a:latin typeface="Arial"/>
              </a:rPr>
              <a:t>• Atšifrētais saturs tiek atjaunots jaunā failā, piemēram, *.decrypted.txt.</a:t>
            </a:r>
          </a:p>
          <a:p>
            <a:r>
              <a:rPr sz="1440">
                <a:solidFill>
                  <a:srgbClr val="000000"/>
                </a:solidFill>
                <a:latin typeface="Arial"/>
              </a:rPr>
              <a:t>• Saskarne parāda statusa un kļūdu paziņojumus.</a:t>
            </a: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918DAD22-2A37-49D0-6F39-213986980F83}"/>
              </a:ext>
            </a:extLst>
          </p:cNvPr>
          <p:cNvSpPr/>
          <p:nvPr/>
        </p:nvSpPr>
        <p:spPr>
          <a:xfrm>
            <a:off x="6144768" y="4974336"/>
            <a:ext cx="5373764" cy="562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050" i="1">
                <a:solidFill>
                  <a:srgbClr val="4A4A4A"/>
                </a:solidFill>
                <a:latin typeface="Arial"/>
              </a:rPr>
              <a:t>Lietotnes saskarnes piemērs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2AF1B32-0B8F-9EFC-1FD1-E6968890C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075" y="1788952"/>
            <a:ext cx="5959149" cy="328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04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79CF6F8-6BC9-C054-A055-9AE2AD4F2E1F}"/>
              </a:ext>
            </a:extLst>
          </p:cNvPr>
          <p:cNvSpPr/>
          <p:nvPr/>
        </p:nvSpPr>
        <p:spPr>
          <a:xfrm>
            <a:off x="841248" y="32918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000000"/>
                </a:solidFill>
                <a:latin typeface="Arial"/>
              </a:rPr>
              <a:t>Rezultātu analīze un testēšana</a:t>
            </a:r>
            <a:endParaRPr lang="en-US" sz="2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A9FC4C0-1320-3C55-DAB4-C9D3D93B41F2}"/>
              </a:ext>
            </a:extLst>
          </p:cNvPr>
          <p:cNvSpPr/>
          <p:nvPr/>
        </p:nvSpPr>
        <p:spPr>
          <a:xfrm>
            <a:off x="841248" y="1078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Arhitektūra</a:t>
            </a:r>
            <a:endParaRPr lang="en-US" sz="17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38BDCD0B-7D31-53B0-DF79-CB6DB3480F4C}"/>
              </a:ext>
            </a:extLst>
          </p:cNvPr>
          <p:cNvSpPr/>
          <p:nvPr/>
        </p:nvSpPr>
        <p:spPr>
          <a:xfrm>
            <a:off x="960120" y="1554480"/>
            <a:ext cx="2194560" cy="45720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9470BE2-754D-C13A-61F4-5758545F6F85}"/>
              </a:ext>
            </a:extLst>
          </p:cNvPr>
          <p:cNvSpPr/>
          <p:nvPr/>
        </p:nvSpPr>
        <p:spPr>
          <a:xfrm>
            <a:off x="1005840" y="16367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MainWindow</a:t>
            </a:r>
            <a:endParaRPr lang="en-US" sz="13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9DA6C356-380F-ABB3-4CD7-36D2E33BDDD3}"/>
              </a:ext>
            </a:extLst>
          </p:cNvPr>
          <p:cNvSpPr/>
          <p:nvPr/>
        </p:nvSpPr>
        <p:spPr>
          <a:xfrm>
            <a:off x="960120" y="2267712"/>
            <a:ext cx="2194560" cy="45720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6C9F3C6D-DB2E-70E2-F3DC-3156589CE43D}"/>
              </a:ext>
            </a:extLst>
          </p:cNvPr>
          <p:cNvSpPr/>
          <p:nvPr/>
        </p:nvSpPr>
        <p:spPr>
          <a:xfrm>
            <a:off x="1005840" y="23500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EncryptionController</a:t>
            </a:r>
            <a:endParaRPr lang="en-US" sz="13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37998735-5195-2C7D-6794-86CA58255E31}"/>
              </a:ext>
            </a:extLst>
          </p:cNvPr>
          <p:cNvSpPr/>
          <p:nvPr/>
        </p:nvSpPr>
        <p:spPr>
          <a:xfrm>
            <a:off x="868680" y="3154680"/>
            <a:ext cx="1325880" cy="438912"/>
          </a:xfrm>
          <a:prstGeom prst="roundRect">
            <a:avLst>
              <a:gd name="adj" fmla="val 8333"/>
            </a:avLst>
          </a:prstGeom>
          <a:solidFill>
            <a:srgbClr val="F3F3F3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AF5A4F24-2F0F-4657-DF62-44B1E22CCDAF}"/>
              </a:ext>
            </a:extLst>
          </p:cNvPr>
          <p:cNvSpPr/>
          <p:nvPr/>
        </p:nvSpPr>
        <p:spPr>
          <a:xfrm>
            <a:off x="914400" y="323697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CryptoService</a:t>
            </a:r>
            <a:endParaRPr lang="en-US" sz="13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19FE6B3C-9650-5499-293D-0EE5838C9CEB}"/>
              </a:ext>
            </a:extLst>
          </p:cNvPr>
          <p:cNvSpPr/>
          <p:nvPr/>
        </p:nvSpPr>
        <p:spPr>
          <a:xfrm>
            <a:off x="2257058" y="3154680"/>
            <a:ext cx="1325880" cy="438912"/>
          </a:xfrm>
          <a:prstGeom prst="roundRect">
            <a:avLst>
              <a:gd name="adj" fmla="val 8333"/>
            </a:avLst>
          </a:prstGeom>
          <a:solidFill>
            <a:srgbClr val="F3F3F3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6A8321C7-79AC-1342-5333-176C83767553}"/>
              </a:ext>
            </a:extLst>
          </p:cNvPr>
          <p:cNvSpPr/>
          <p:nvPr/>
        </p:nvSpPr>
        <p:spPr>
          <a:xfrm>
            <a:off x="2286000" y="320954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FileService</a:t>
            </a:r>
            <a:endParaRPr lang="en-US" sz="13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4EC74A54-2BBA-D4C6-9F10-D9EF7B1D4289}"/>
              </a:ext>
            </a:extLst>
          </p:cNvPr>
          <p:cNvSpPr/>
          <p:nvPr/>
        </p:nvSpPr>
        <p:spPr>
          <a:xfrm>
            <a:off x="868680" y="3822192"/>
            <a:ext cx="1325880" cy="438912"/>
          </a:xfrm>
          <a:prstGeom prst="roundRect">
            <a:avLst>
              <a:gd name="adj" fmla="val 8333"/>
            </a:avLst>
          </a:prstGeom>
          <a:solidFill>
            <a:srgbClr val="F3F3F3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08B7408B-0FC7-7BAA-BFB2-784A5EAD88D2}"/>
              </a:ext>
            </a:extLst>
          </p:cNvPr>
          <p:cNvSpPr/>
          <p:nvPr/>
        </p:nvSpPr>
        <p:spPr>
          <a:xfrm>
            <a:off x="914400" y="39044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KeyService</a:t>
            </a:r>
            <a:endParaRPr lang="en-US" sz="130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13A59CE2-187D-2C4A-780B-121CD2C7658A}"/>
              </a:ext>
            </a:extLst>
          </p:cNvPr>
          <p:cNvSpPr/>
          <p:nvPr/>
        </p:nvSpPr>
        <p:spPr>
          <a:xfrm>
            <a:off x="2153412" y="3831336"/>
            <a:ext cx="1325880" cy="438912"/>
          </a:xfrm>
          <a:prstGeom prst="roundRect">
            <a:avLst>
              <a:gd name="adj" fmla="val 8333"/>
            </a:avLst>
          </a:prstGeom>
          <a:solidFill>
            <a:srgbClr val="F3F3F3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D3489699-2E17-3362-6102-5A8317229C8F}"/>
              </a:ext>
            </a:extLst>
          </p:cNvPr>
          <p:cNvSpPr/>
          <p:nvPr/>
        </p:nvSpPr>
        <p:spPr>
          <a:xfrm>
            <a:off x="2217379" y="38862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LogService</a:t>
            </a:r>
            <a:endParaRPr lang="en-US" sz="13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A02A3D8F-5733-30B6-8590-C69B01808542}"/>
              </a:ext>
            </a:extLst>
          </p:cNvPr>
          <p:cNvSpPr/>
          <p:nvPr/>
        </p:nvSpPr>
        <p:spPr>
          <a:xfrm>
            <a:off x="2057400" y="2011680"/>
            <a:ext cx="0" cy="256032"/>
          </a:xfrm>
          <a:prstGeom prst="line">
            <a:avLst/>
          </a:prstGeom>
          <a:noFill/>
          <a:ln w="15875">
            <a:solidFill>
              <a:srgbClr val="4A4A4A"/>
            </a:solidFill>
            <a:prstDash val="solid"/>
            <a:headEnd type="none"/>
            <a:tailEnd type="triangle"/>
          </a:ln>
        </p:spPr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64030BB3-59CA-12C4-06E8-E397C9911B16}"/>
              </a:ext>
            </a:extLst>
          </p:cNvPr>
          <p:cNvSpPr/>
          <p:nvPr/>
        </p:nvSpPr>
        <p:spPr>
          <a:xfrm>
            <a:off x="2057400" y="2724912"/>
            <a:ext cx="0" cy="347472"/>
          </a:xfrm>
          <a:prstGeom prst="line">
            <a:avLst/>
          </a:prstGeom>
          <a:noFill/>
          <a:ln w="15875">
            <a:solidFill>
              <a:srgbClr val="4A4A4A"/>
            </a:solidFill>
            <a:prstDash val="solid"/>
          </a:ln>
        </p:spPr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D131EBD4-84A4-14DF-7F81-28D8EF0469C1}"/>
              </a:ext>
            </a:extLst>
          </p:cNvPr>
          <p:cNvSpPr/>
          <p:nvPr/>
        </p:nvSpPr>
        <p:spPr>
          <a:xfrm>
            <a:off x="1536192" y="3072384"/>
            <a:ext cx="0" cy="82296"/>
          </a:xfrm>
          <a:prstGeom prst="line">
            <a:avLst/>
          </a:prstGeom>
          <a:noFill/>
          <a:ln w="1270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FA510B75-619D-E6EC-53EA-D8E55EDABE06}"/>
              </a:ext>
            </a:extLst>
          </p:cNvPr>
          <p:cNvSpPr/>
          <p:nvPr/>
        </p:nvSpPr>
        <p:spPr>
          <a:xfrm>
            <a:off x="2578608" y="3072384"/>
            <a:ext cx="228600" cy="82296"/>
          </a:xfrm>
          <a:prstGeom prst="line">
            <a:avLst/>
          </a:prstGeom>
          <a:noFill/>
          <a:ln w="1270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8441010-B323-3F04-DD7B-AD0BA7E895A3}"/>
              </a:ext>
            </a:extLst>
          </p:cNvPr>
          <p:cNvSpPr/>
          <p:nvPr/>
        </p:nvSpPr>
        <p:spPr>
          <a:xfrm>
            <a:off x="1536192" y="3593592"/>
            <a:ext cx="0" cy="228600"/>
          </a:xfrm>
          <a:prstGeom prst="line">
            <a:avLst/>
          </a:prstGeom>
          <a:noFill/>
          <a:ln w="1270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7EA7FCAA-B643-7DF5-3C86-56D80CA1E617}"/>
              </a:ext>
            </a:extLst>
          </p:cNvPr>
          <p:cNvSpPr/>
          <p:nvPr/>
        </p:nvSpPr>
        <p:spPr>
          <a:xfrm>
            <a:off x="2578608" y="3593592"/>
            <a:ext cx="228600" cy="228600"/>
          </a:xfrm>
          <a:prstGeom prst="line">
            <a:avLst/>
          </a:prstGeom>
          <a:noFill/>
          <a:ln w="1270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69C4FC5A-2970-7FFB-405C-D9DE861AE4C8}"/>
              </a:ext>
            </a:extLst>
          </p:cNvPr>
          <p:cNvSpPr/>
          <p:nvPr/>
        </p:nvSpPr>
        <p:spPr>
          <a:xfrm>
            <a:off x="4572000" y="1078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Automātiskie testi</a:t>
            </a:r>
            <a:endParaRPr lang="en-US" sz="1700" dirty="0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4C57B47D-D1C4-1A11-01C2-69C501007594}"/>
              </a:ext>
            </a:extLst>
          </p:cNvPr>
          <p:cNvSpPr/>
          <p:nvPr/>
        </p:nvSpPr>
        <p:spPr>
          <a:xfrm>
            <a:off x="4553712" y="1508760"/>
            <a:ext cx="2194560" cy="1051560"/>
          </a:xfrm>
          <a:prstGeom prst="roundRect">
            <a:avLst>
              <a:gd name="adj" fmla="val 3478"/>
            </a:avLst>
          </a:prstGeom>
          <a:solidFill>
            <a:srgbClr val="F7FBF7"/>
          </a:solidFill>
          <a:ln w="12700">
            <a:solidFill>
              <a:srgbClr val="A9D1AE"/>
            </a:solidFill>
            <a:prstDash val="solid"/>
          </a:ln>
        </p:spPr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42ED70C3-4AF6-00ED-2E2B-098423E2E842}"/>
              </a:ext>
            </a:extLst>
          </p:cNvPr>
          <p:cNvSpPr/>
          <p:nvPr/>
        </p:nvSpPr>
        <p:spPr>
          <a:xfrm>
            <a:off x="4736592" y="1691640"/>
            <a:ext cx="1359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2100" b="1">
                <a:solidFill>
                  <a:srgbClr val="1E7D32"/>
                </a:solidFill>
                <a:latin typeface="Arial"/>
              </a:rPr>
              <a:t>19</a:t>
            </a:r>
            <a:endParaRPr lang="en-US" sz="2100" dirty="0"/>
          </a:p>
          <a:p>
            <a:r>
              <a:rPr sz="2100" b="1">
                <a:solidFill>
                  <a:srgbClr val="1E7D32"/>
                </a:solidFill>
                <a:latin typeface="Arial"/>
              </a:rPr>
              <a:t>veiksmīgi testi</a:t>
            </a:r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17AE9BC7-DA6B-2A1F-BEB1-70C1E1409AA9}"/>
              </a:ext>
            </a:extLst>
          </p:cNvPr>
          <p:cNvSpPr/>
          <p:nvPr/>
        </p:nvSpPr>
        <p:spPr>
          <a:xfrm>
            <a:off x="6903720" y="1508760"/>
            <a:ext cx="2194560" cy="1051560"/>
          </a:xfrm>
          <a:prstGeom prst="roundRect">
            <a:avLst>
              <a:gd name="adj" fmla="val 3478"/>
            </a:avLst>
          </a:prstGeom>
          <a:solidFill>
            <a:srgbClr val="FBFBFB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8E9A1B8E-E5ED-A34D-54E7-36FF38B41AF3}"/>
              </a:ext>
            </a:extLst>
          </p:cNvPr>
          <p:cNvSpPr/>
          <p:nvPr/>
        </p:nvSpPr>
        <p:spPr>
          <a:xfrm>
            <a:off x="7086600" y="1691640"/>
            <a:ext cx="1060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2100" b="1">
                <a:solidFill>
                  <a:srgbClr val="4A4A4A"/>
                </a:solidFill>
                <a:latin typeface="Arial"/>
              </a:rPr>
              <a:t>1</a:t>
            </a:r>
            <a:endParaRPr lang="en-US" sz="2100" dirty="0"/>
          </a:p>
          <a:p>
            <a:r>
              <a:rPr sz="2100" b="1">
                <a:solidFill>
                  <a:srgbClr val="4A4A4A"/>
                </a:solidFill>
                <a:latin typeface="Arial"/>
              </a:rPr>
              <a:t>izlaists tests</a:t>
            </a:r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A34F9FC4-C5D7-FFB3-1E60-931237F5A0A2}"/>
              </a:ext>
            </a:extLst>
          </p:cNvPr>
          <p:cNvSpPr/>
          <p:nvPr/>
        </p:nvSpPr>
        <p:spPr>
          <a:xfrm>
            <a:off x="4553712" y="2788920"/>
            <a:ext cx="4434840" cy="2286000"/>
          </a:xfrm>
          <a:prstGeom prst="roundRect">
            <a:avLst>
              <a:gd name="adj" fmla="val 2400"/>
            </a:avLst>
          </a:prstGeom>
          <a:solidFill>
            <a:srgbClr val="F3F3F3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B8FAA860-623C-FFD8-463B-9CF368D00CA9}"/>
              </a:ext>
            </a:extLst>
          </p:cNvPr>
          <p:cNvSpPr/>
          <p:nvPr/>
        </p:nvSpPr>
        <p:spPr>
          <a:xfrm>
            <a:off x="4718304" y="2898648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000000"/>
                </a:solidFill>
                <a:latin typeface="Arial"/>
              </a:rPr>
              <a:t>Ko pārbaudīja?</a:t>
            </a:r>
            <a:endParaRPr lang="en-US" sz="1500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79338648-AE59-8510-69CE-AE1BB9006AC3}"/>
              </a:ext>
            </a:extLst>
          </p:cNvPr>
          <p:cNvSpPr/>
          <p:nvPr/>
        </p:nvSpPr>
        <p:spPr>
          <a:xfrm>
            <a:off x="4718304" y="3191256"/>
            <a:ext cx="410565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3000"/>
              </a:lnSpc>
              <a:buNone/>
            </a:pPr>
            <a:r>
              <a:rPr sz="1320">
                <a:solidFill>
                  <a:srgbClr val="000000"/>
                </a:solidFill>
                <a:latin typeface="Arial"/>
              </a:rPr>
              <a:t>• pilnu šifrēšanas un atšifrēšanas plūsmu;</a:t>
            </a:r>
            <a:endParaRPr lang="en-US" sz="1320" dirty="0"/>
          </a:p>
          <a:p>
            <a:r>
              <a:rPr sz="1320">
                <a:solidFill>
                  <a:srgbClr val="000000"/>
                </a:solidFill>
                <a:latin typeface="Arial"/>
              </a:rPr>
              <a:t>• atslēgas saglabāšanu un ielādi;</a:t>
            </a:r>
          </a:p>
          <a:p>
            <a:r>
              <a:rPr sz="1320">
                <a:solidFill>
                  <a:srgbClr val="000000"/>
                </a:solidFill>
                <a:latin typeface="Arial"/>
              </a:rPr>
              <a:t>• failu nolasīšanu, saglabāšanu un gala ceļu veidošanu;</a:t>
            </a:r>
          </a:p>
          <a:p>
            <a:r>
              <a:rPr sz="1320">
                <a:solidFill>
                  <a:srgbClr val="000000"/>
                </a:solidFill>
                <a:latin typeface="Arial"/>
              </a:rPr>
              <a:t>• ievades validāciju un kļūdu apstrādi.</a:t>
            </a:r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7DE1862D-51AC-2003-A627-AFD4761207DA}"/>
              </a:ext>
            </a:extLst>
          </p:cNvPr>
          <p:cNvSpPr/>
          <p:nvPr/>
        </p:nvSpPr>
        <p:spPr>
          <a:xfrm>
            <a:off x="9189720" y="1508760"/>
            <a:ext cx="2011680" cy="3566160"/>
          </a:xfrm>
          <a:prstGeom prst="roundRect">
            <a:avLst>
              <a:gd name="adj" fmla="val 2727"/>
            </a:avLst>
          </a:prstGeom>
          <a:solidFill>
            <a:srgbClr val="F3F3F3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AA24DA47-F228-2E5F-D7E0-365F0EEB688C}"/>
              </a:ext>
            </a:extLst>
          </p:cNvPr>
          <p:cNvSpPr/>
          <p:nvPr/>
        </p:nvSpPr>
        <p:spPr>
          <a:xfrm>
            <a:off x="9354312" y="161848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000000"/>
                </a:solidFill>
                <a:latin typeface="Arial"/>
              </a:rPr>
              <a:t>Secinājums</a:t>
            </a:r>
            <a:endParaRPr lang="en-US" sz="1500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74980E11-3DC8-E91A-1FF5-B84F60574962}"/>
              </a:ext>
            </a:extLst>
          </p:cNvPr>
          <p:cNvSpPr/>
          <p:nvPr/>
        </p:nvSpPr>
        <p:spPr>
          <a:xfrm>
            <a:off x="9354312" y="1911096"/>
            <a:ext cx="1682496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3000"/>
              </a:lnSpc>
              <a:buNone/>
            </a:pPr>
            <a:r>
              <a:rPr sz="1330">
                <a:solidFill>
                  <a:srgbClr val="000000"/>
                </a:solidFill>
                <a:latin typeface="Arial"/>
              </a:rPr>
              <a:t>Lietotne korekti darbojas ar pareizu atslēgu, bet ar nepareizu atslēgu atšifrēšana neizdodas.</a:t>
            </a:r>
            <a:endParaRPr lang="en-US" sz="1330" dirty="0"/>
          </a:p>
        </p:txBody>
      </p:sp>
    </p:spTree>
    <p:extLst>
      <p:ext uri="{BB962C8B-B14F-4D97-AF65-F5344CB8AC3E}">
        <p14:creationId xmlns:p14="http://schemas.microsoft.com/office/powerpoint/2010/main" val="2657457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7D73E98-ED12-5AE8-2B0B-25F236E70476}"/>
              </a:ext>
            </a:extLst>
          </p:cNvPr>
          <p:cNvSpPr/>
          <p:nvPr/>
        </p:nvSpPr>
        <p:spPr>
          <a:xfrm>
            <a:off x="841248" y="32918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000000"/>
                </a:solidFill>
                <a:latin typeface="Arial"/>
              </a:rPr>
              <a:t>Kopsavilkums</a:t>
            </a:r>
            <a:endParaRPr lang="en-US" sz="2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E7AF83C-0E2B-D705-0A92-87A1CCE90959}"/>
              </a:ext>
            </a:extLst>
          </p:cNvPr>
          <p:cNvSpPr/>
          <p:nvPr/>
        </p:nvSpPr>
        <p:spPr>
          <a:xfrm>
            <a:off x="841248" y="1143000"/>
            <a:ext cx="3429000" cy="4251960"/>
          </a:xfrm>
          <a:prstGeom prst="roundRect">
            <a:avLst>
              <a:gd name="adj" fmla="val 1600"/>
            </a:avLst>
          </a:prstGeom>
          <a:solidFill>
            <a:srgbClr val="F3F3F3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DE1C633-9DC1-ABBA-D2AF-AB90D8996535}"/>
              </a:ext>
            </a:extLst>
          </p:cNvPr>
          <p:cNvSpPr/>
          <p:nvPr/>
        </p:nvSpPr>
        <p:spPr>
          <a:xfrm>
            <a:off x="1005840" y="125272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000000"/>
                </a:solidFill>
                <a:latin typeface="Arial"/>
              </a:rPr>
              <a:t>Kas izdevās?</a:t>
            </a:r>
            <a:endParaRPr lang="en-US" sz="1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FB5DB22-D3E5-E2D6-7155-8FF82A09FB9B}"/>
              </a:ext>
            </a:extLst>
          </p:cNvPr>
          <p:cNvSpPr/>
          <p:nvPr/>
        </p:nvSpPr>
        <p:spPr>
          <a:xfrm>
            <a:off x="1005840" y="1545336"/>
            <a:ext cx="3099816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3000"/>
              </a:lnSpc>
              <a:buNone/>
            </a:pPr>
            <a:r>
              <a:rPr sz="1340">
                <a:solidFill>
                  <a:srgbClr val="000000"/>
                </a:solidFill>
                <a:latin typeface="Arial"/>
              </a:rPr>
              <a:t>• Izplānot programmas struktūru un moduļu sadalījumu.</a:t>
            </a:r>
            <a:endParaRPr lang="en-US" sz="1340" dirty="0"/>
          </a:p>
          <a:p>
            <a:r>
              <a:rPr sz="1340">
                <a:solidFill>
                  <a:srgbClr val="000000"/>
                </a:solidFill>
                <a:latin typeface="Arial"/>
              </a:rPr>
              <a:t>• Izveidot pamata GUI ar Tkinter.</a:t>
            </a:r>
          </a:p>
          <a:p>
            <a:r>
              <a:rPr sz="1340">
                <a:solidFill>
                  <a:srgbClr val="000000"/>
                </a:solidFill>
                <a:latin typeface="Arial"/>
              </a:rPr>
              <a:t>• Savienot galveno funkcionalitāti vienotā darbplūsmā.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FD9E075-AA6F-0167-D53B-20B16E2CD8CE}"/>
              </a:ext>
            </a:extLst>
          </p:cNvPr>
          <p:cNvSpPr/>
          <p:nvPr/>
        </p:nvSpPr>
        <p:spPr>
          <a:xfrm>
            <a:off x="4379976" y="1143000"/>
            <a:ext cx="3429000" cy="4251960"/>
          </a:xfrm>
          <a:prstGeom prst="roundRect">
            <a:avLst>
              <a:gd name="adj" fmla="val 1600"/>
            </a:avLst>
          </a:prstGeom>
          <a:solidFill>
            <a:srgbClr val="F3F3F3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C3E435E-A1B9-27DC-4C1C-09F24BDF2FCB}"/>
              </a:ext>
            </a:extLst>
          </p:cNvPr>
          <p:cNvSpPr/>
          <p:nvPr/>
        </p:nvSpPr>
        <p:spPr>
          <a:xfrm>
            <a:off x="4544568" y="125272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000000"/>
                </a:solidFill>
                <a:latin typeface="Arial"/>
              </a:rPr>
              <a:t>Kas bija grūti?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15E5083-9759-842A-76DB-F5EB233E8BA5}"/>
              </a:ext>
            </a:extLst>
          </p:cNvPr>
          <p:cNvSpPr/>
          <p:nvPr/>
        </p:nvSpPr>
        <p:spPr>
          <a:xfrm>
            <a:off x="4544568" y="1545336"/>
            <a:ext cx="3099816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3000"/>
              </a:lnSpc>
              <a:buNone/>
            </a:pPr>
            <a:r>
              <a:rPr sz="1340">
                <a:solidFill>
                  <a:srgbClr val="000000"/>
                </a:solidFill>
                <a:latin typeface="Arial"/>
              </a:rPr>
              <a:t>• Droša atslēgu pārvaldība un kļūdu apstrāde.</a:t>
            </a:r>
            <a:endParaRPr lang="en-US" sz="1340" dirty="0"/>
          </a:p>
          <a:p>
            <a:r>
              <a:rPr sz="1340">
                <a:solidFill>
                  <a:srgbClr val="000000"/>
                </a:solidFill>
                <a:latin typeface="Arial"/>
              </a:rPr>
              <a:t>• Pārrakstīšanas kontrole un failu ceļu validācija.</a:t>
            </a:r>
          </a:p>
          <a:p>
            <a:r>
              <a:rPr sz="1340">
                <a:solidFill>
                  <a:srgbClr val="000000"/>
                </a:solidFill>
                <a:latin typeface="Arial"/>
              </a:rPr>
              <a:t>• GUI testēšana bez grafiskās vides.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18F32CA-1211-7D43-229C-A53CD2C43280}"/>
              </a:ext>
            </a:extLst>
          </p:cNvPr>
          <p:cNvSpPr/>
          <p:nvPr/>
        </p:nvSpPr>
        <p:spPr>
          <a:xfrm>
            <a:off x="7918704" y="1143000"/>
            <a:ext cx="3429000" cy="4251960"/>
          </a:xfrm>
          <a:prstGeom prst="roundRect">
            <a:avLst>
              <a:gd name="adj" fmla="val 1600"/>
            </a:avLst>
          </a:prstGeom>
          <a:solidFill>
            <a:srgbClr val="F3F3F3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237EC50-C5E0-4E66-165B-EEC7DAF84668}"/>
              </a:ext>
            </a:extLst>
          </p:cNvPr>
          <p:cNvSpPr/>
          <p:nvPr/>
        </p:nvSpPr>
        <p:spPr>
          <a:xfrm>
            <a:off x="8083296" y="125272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000000"/>
                </a:solidFill>
                <a:latin typeface="Arial"/>
              </a:rPr>
              <a:t>Svarīgākais ieguvums</a:t>
            </a:r>
            <a:endParaRPr lang="en-US" sz="15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C851CA4-4A83-0509-3A77-A24A337C5EE6}"/>
              </a:ext>
            </a:extLst>
          </p:cNvPr>
          <p:cNvSpPr/>
          <p:nvPr/>
        </p:nvSpPr>
        <p:spPr>
          <a:xfrm>
            <a:off x="8083296" y="1545336"/>
            <a:ext cx="3099816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3000"/>
              </a:lnSpc>
              <a:buNone/>
            </a:pPr>
            <a:r>
              <a:rPr sz="1320">
                <a:solidFill>
                  <a:srgbClr val="000000"/>
                </a:solidFill>
                <a:latin typeface="Arial"/>
              </a:rPr>
              <a:t>• Praktiski pielietota Fernet šifrēšana.</a:t>
            </a:r>
            <a:endParaRPr lang="en-US" sz="1320" dirty="0"/>
          </a:p>
          <a:p>
            <a:r>
              <a:rPr sz="1320">
                <a:solidFill>
                  <a:srgbClr val="000000"/>
                </a:solidFill>
                <a:latin typeface="Arial"/>
              </a:rPr>
              <a:t>• Nostiprināta izpratne par OOP arhitektūru.</a:t>
            </a:r>
          </a:p>
          <a:p>
            <a:r>
              <a:rPr sz="1320">
                <a:solidFill>
                  <a:srgbClr val="000000"/>
                </a:solidFill>
                <a:latin typeface="Arial"/>
              </a:rPr>
              <a:t>• Apgūta testēšanas nozīme drošas programmatūras izstrādē.</a:t>
            </a:r>
          </a:p>
        </p:txBody>
      </p:sp>
    </p:spTree>
    <p:extLst>
      <p:ext uri="{BB962C8B-B14F-4D97-AF65-F5344CB8AC3E}">
        <p14:creationId xmlns:p14="http://schemas.microsoft.com/office/powerpoint/2010/main" val="3442301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7FDBB46-F6BB-3C04-9261-EDD29872B3A4}"/>
              </a:ext>
            </a:extLst>
          </p:cNvPr>
          <p:cNvSpPr/>
          <p:nvPr/>
        </p:nvSpPr>
        <p:spPr>
          <a:xfrm>
            <a:off x="740580" y="41307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000000"/>
                </a:solidFill>
                <a:latin typeface="Arial"/>
              </a:rPr>
              <a:t>Kopsavilkums un turpmākie uzlabojumi</a:t>
            </a:r>
            <a:endParaRPr lang="en-US" sz="2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2036632-6595-C6C6-2B18-C6A3A51901E8}"/>
              </a:ext>
            </a:extLst>
          </p:cNvPr>
          <p:cNvSpPr/>
          <p:nvPr/>
        </p:nvSpPr>
        <p:spPr>
          <a:xfrm>
            <a:off x="740580" y="1409770"/>
            <a:ext cx="5166360" cy="3794760"/>
          </a:xfrm>
          <a:prstGeom prst="roundRect">
            <a:avLst>
              <a:gd name="adj" fmla="val 1446"/>
            </a:avLst>
          </a:prstGeom>
          <a:solidFill>
            <a:srgbClr val="F3F3F3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2418FF7-ABDA-45F8-FE7F-FCDA1A03C5FA}"/>
              </a:ext>
            </a:extLst>
          </p:cNvPr>
          <p:cNvSpPr/>
          <p:nvPr/>
        </p:nvSpPr>
        <p:spPr>
          <a:xfrm>
            <a:off x="905172" y="1519498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000000"/>
                </a:solidFill>
                <a:latin typeface="Arial"/>
              </a:rPr>
              <a:t>Ko uzlabotu?</a:t>
            </a:r>
            <a:endParaRPr lang="en-US" sz="1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96D3DE7-08A4-142F-A273-BEC765DC4583}"/>
              </a:ext>
            </a:extLst>
          </p:cNvPr>
          <p:cNvSpPr/>
          <p:nvPr/>
        </p:nvSpPr>
        <p:spPr>
          <a:xfrm>
            <a:off x="905172" y="1812106"/>
            <a:ext cx="4837176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sz="1400">
                <a:solidFill>
                  <a:srgbClr val="000000"/>
                </a:solidFill>
                <a:latin typeface="Arial"/>
              </a:rPr>
              <a:t>• Agrāk sagatavotu detalizētu testēšanas plānu.</a:t>
            </a:r>
            <a:endParaRPr lang="en-US" sz="1400" dirty="0"/>
          </a:p>
          <a:p>
            <a:r>
              <a:rPr sz="1400">
                <a:solidFill>
                  <a:srgbClr val="000000"/>
                </a:solidFill>
                <a:latin typeface="Arial"/>
              </a:rPr>
              <a:t>• Ieviestu paroles balstītu atslēgas iegūšanu.</a:t>
            </a:r>
          </a:p>
          <a:p>
            <a:r>
              <a:rPr sz="1400">
                <a:solidFill>
                  <a:srgbClr val="000000"/>
                </a:solidFill>
                <a:latin typeface="Arial"/>
              </a:rPr>
              <a:t>• Pievienotu vairāku failu un mapju apstrādi.</a:t>
            </a:r>
          </a:p>
          <a:p>
            <a:r>
              <a:rPr sz="1400">
                <a:solidFill>
                  <a:srgbClr val="000000"/>
                </a:solidFill>
                <a:latin typeface="Arial"/>
              </a:rPr>
              <a:t>• Plašāk notestētu GUI grafiskā vidē.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38C4C4E-8A08-30F6-C8C6-B2317F6FC955}"/>
              </a:ext>
            </a:extLst>
          </p:cNvPr>
          <p:cNvSpPr/>
          <p:nvPr/>
        </p:nvSpPr>
        <p:spPr>
          <a:xfrm>
            <a:off x="6071532" y="1409770"/>
            <a:ext cx="5175504" cy="3794760"/>
          </a:xfrm>
          <a:prstGeom prst="roundRect">
            <a:avLst>
              <a:gd name="adj" fmla="val 1446"/>
            </a:avLst>
          </a:prstGeom>
          <a:solidFill>
            <a:srgbClr val="F3F3F3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1BA108C-15B8-A8FD-94DD-5A637466A62A}"/>
              </a:ext>
            </a:extLst>
          </p:cNvPr>
          <p:cNvSpPr/>
          <p:nvPr/>
        </p:nvSpPr>
        <p:spPr>
          <a:xfrm>
            <a:off x="6236124" y="151949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000000"/>
                </a:solidFill>
                <a:latin typeface="Arial"/>
              </a:rPr>
              <a:t>Turpmākās iespējas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CE16883-C241-BA8A-2311-656506D6DA50}"/>
              </a:ext>
            </a:extLst>
          </p:cNvPr>
          <p:cNvSpPr/>
          <p:nvPr/>
        </p:nvSpPr>
        <p:spPr>
          <a:xfrm>
            <a:off x="6236124" y="1812106"/>
            <a:ext cx="4846320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sz="1400">
                <a:solidFill>
                  <a:srgbClr val="000000"/>
                </a:solidFill>
                <a:latin typeface="Arial"/>
              </a:rPr>
              <a:t>• Integritātes pārbaude ar hash summām.</a:t>
            </a:r>
            <a:endParaRPr lang="en-US" sz="1400" dirty="0"/>
          </a:p>
          <a:p>
            <a:r>
              <a:rPr sz="1400">
                <a:solidFill>
                  <a:srgbClr val="000000"/>
                </a:solidFill>
                <a:latin typeface="Arial"/>
              </a:rPr>
              <a:t>• Lietotnes iepakošana .exe formātā.</a:t>
            </a:r>
          </a:p>
          <a:p>
            <a:r>
              <a:rPr sz="1400">
                <a:solidFill>
                  <a:srgbClr val="000000"/>
                </a:solidFill>
                <a:latin typeface="Arial"/>
              </a:rPr>
              <a:t>• Pilnīgāka lietotāja instrukcija.</a:t>
            </a:r>
          </a:p>
          <a:p>
            <a:r>
              <a:rPr sz="1400">
                <a:solidFill>
                  <a:srgbClr val="000000"/>
                </a:solidFill>
                <a:latin typeface="Arial"/>
              </a:rPr>
              <a:t>• Paplašināšana līdz ikdienā izmantojamam rīkam.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1E31518-22EC-5A73-C14B-AEBC79AD438D}"/>
              </a:ext>
            </a:extLst>
          </p:cNvPr>
          <p:cNvSpPr/>
          <p:nvPr/>
        </p:nvSpPr>
        <p:spPr>
          <a:xfrm>
            <a:off x="740580" y="564344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600" b="1" i="1">
                <a:solidFill>
                  <a:srgbClr val="000000"/>
                </a:solidFill>
                <a:latin typeface="Arial"/>
              </a:rPr>
              <a:t>Paldies par uzmanību!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70941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dizai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633</Words>
  <Application>Microsoft Office PowerPoint</Application>
  <PresentationFormat>Widescreen</PresentationFormat>
  <Paragraphs>101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dizains</vt:lpstr>
      <vt:lpstr>Liepājas Draudzīgā aicinājuma vidusskola Failu drošības nodrošināšana ar lokālu Python lietotni Pētniecības darbs Programmēšana II</vt:lpstr>
      <vt:lpstr>Sasniedzamie rezultāti:</vt:lpstr>
      <vt:lpstr>Caurviju prasmes:</vt:lpstr>
      <vt:lpstr>Problēma un aktualitāte</vt:lpstr>
      <vt:lpstr>Mērķis: Izstrādāt lokālu Python lietotni ar grafisko lietotāja saskarni, kas ļauj lietotājam droši šifrēt un atšifrēt failus, izmantojot simetrisko šifrēšanu.</vt:lpstr>
      <vt:lpstr>Pētījuma jautājums un metodes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Liepājas Draudzīgā aicinājuma vidusskola Darba nosaukums Pētnieciskais darbs Vēsture II</dc:title>
  <dc:creator>Sistēmas Windows lietotājs</dc:creator>
  <cp:lastModifiedBy>Markuss Seglins</cp:lastModifiedBy>
  <cp:revision>14</cp:revision>
  <dcterms:created xsi:type="dcterms:W3CDTF">2025-03-24T09:35:39Z</dcterms:created>
  <dcterms:modified xsi:type="dcterms:W3CDTF">2026-04-01T12:15:50Z</dcterms:modified>
</cp:coreProperties>
</file>